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0799763" cy="9720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39" userDrawn="1">
          <p15:clr>
            <a:srgbClr val="A4A3A4"/>
          </p15:clr>
        </p15:guide>
        <p15:guide id="2" pos="345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2244" y="96"/>
      </p:cViewPr>
      <p:guideLst>
        <p:guide orient="horz" pos="2639"/>
        <p:guide pos="345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3130" y="2603192"/>
            <a:ext cx="9328800" cy="17962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46259" y="4748594"/>
            <a:ext cx="7682541" cy="214152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954" y="5384845"/>
            <a:ext cx="9328800" cy="166433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954" y="3551748"/>
            <a:ext cx="9328800" cy="183309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753" y="1955304"/>
            <a:ext cx="4847318" cy="5530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78988" y="1955304"/>
            <a:ext cx="4847318" cy="5530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753" y="1875774"/>
            <a:ext cx="4849224" cy="78173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753" y="2657507"/>
            <a:ext cx="4849224" cy="48281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75179" y="1875774"/>
            <a:ext cx="4851129" cy="78173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75179" y="2657507"/>
            <a:ext cx="4851129" cy="48281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755" y="333644"/>
            <a:ext cx="3610719" cy="141992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0943" y="333643"/>
            <a:ext cx="6135363" cy="71519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755" y="1753567"/>
            <a:ext cx="3610719" cy="573206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1189" y="5865910"/>
            <a:ext cx="6585035" cy="69250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51189" y="748758"/>
            <a:ext cx="6585035" cy="502792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51189" y="6558414"/>
            <a:ext cx="6585035" cy="98347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56918" y="335585"/>
            <a:ext cx="2469388" cy="71500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8753" y="335585"/>
            <a:ext cx="7225247" cy="71500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753" y="335584"/>
            <a:ext cx="9877553" cy="13966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753" y="1955304"/>
            <a:ext cx="9877553" cy="5530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8753" y="7766900"/>
            <a:ext cx="2560847" cy="4461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fld id="{5BCAD085-E8A6-8845-BD4E-CB4CCA059FC4}" type="datetimeFigureOut">
              <a:rPr lang="en-US" smtClean="0"/>
              <a:pPr/>
              <a:t>8/19/2026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49812" y="7766900"/>
            <a:ext cx="3475435" cy="4461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65459" y="7766900"/>
            <a:ext cx="2560847" cy="4461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맑은 고딕" panose="020B0503020000020004" pitchFamily="50" charset="-127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6AA1B1CF-0836-4BF0-AE4B-480EF1F5EF61}"/>
              </a:ext>
            </a:extLst>
          </p:cNvPr>
          <p:cNvSpPr/>
          <p:nvPr/>
        </p:nvSpPr>
        <p:spPr>
          <a:xfrm>
            <a:off x="571722" y="8740567"/>
            <a:ext cx="4768751" cy="777240"/>
          </a:xfrm>
          <a:prstGeom prst="roundRect">
            <a:avLst>
              <a:gd name="adj" fmla="val 7447"/>
            </a:avLst>
          </a:prstGeom>
          <a:solidFill>
            <a:srgbClr val="CBD6EB"/>
          </a:solidFill>
          <a:ln w="19050">
            <a:solidFill>
              <a:srgbClr val="CBD6EB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2" name="Rounded Rectangle 1"/>
          <p:cNvSpPr/>
          <p:nvPr/>
        </p:nvSpPr>
        <p:spPr>
          <a:xfrm>
            <a:off x="535145" y="201168"/>
            <a:ext cx="1155861" cy="585216"/>
          </a:xfrm>
          <a:prstGeom prst="roundRect">
            <a:avLst>
              <a:gd name="adj" fmla="val 7046"/>
            </a:avLst>
          </a:prstGeom>
          <a:solidFill>
            <a:srgbClr val="18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8000"/>
              </a:lnSpc>
            </a:pPr>
            <a:r>
              <a:rPr sz="1500" dirty="0" err="1">
                <a:solidFill>
                  <a:srgbClr val="FFFFFF"/>
                </a:solidFill>
                <a:latin typeface="+mn-ea"/>
                <a:cs typeface="Pretendard ExtraBold"/>
              </a:rPr>
              <a:t>개념</a:t>
            </a:r>
            <a:endParaRPr sz="1500" dirty="0">
              <a:solidFill>
                <a:srgbClr val="FFFFFF"/>
              </a:solidFill>
              <a:latin typeface="+mn-ea"/>
              <a:cs typeface="Pretendard ExtraBold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744438" y="201168"/>
            <a:ext cx="8391908" cy="585216"/>
          </a:xfrm>
          <a:prstGeom prst="roundRect">
            <a:avLst>
              <a:gd name="adj" fmla="val 7046"/>
            </a:avLst>
          </a:prstGeom>
          <a:solidFill>
            <a:srgbClr val="FFFFFF"/>
          </a:solidFill>
          <a:ln w="13970">
            <a:solidFill>
              <a:srgbClr val="B6C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14721" y="299923"/>
            <a:ext cx="8267155" cy="38779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2400">
                <a:solidFill>
                  <a:srgbClr val="1D3567"/>
                </a:solidFill>
                <a:latin typeface="+mn-ea"/>
                <a:cs typeface="Pretendard ExtraBold"/>
              </a:rPr>
              <a:t>자율실험실 </a:t>
            </a:r>
            <a:r>
              <a:rPr sz="2400">
                <a:solidFill>
                  <a:srgbClr val="1B54B5"/>
                </a:solidFill>
                <a:latin typeface="+mn-ea"/>
                <a:cs typeface="Pretendard ExtraBold"/>
              </a:rPr>
              <a:t>(Self-Driving Laboratory, SDL)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5145" y="896112"/>
            <a:ext cx="1155861" cy="585216"/>
          </a:xfrm>
          <a:prstGeom prst="roundRect">
            <a:avLst>
              <a:gd name="adj" fmla="val 7046"/>
            </a:avLst>
          </a:prstGeom>
          <a:solidFill>
            <a:srgbClr val="18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8000"/>
              </a:lnSpc>
            </a:pPr>
            <a:r>
              <a:rPr sz="1500">
                <a:solidFill>
                  <a:srgbClr val="FFFFFF"/>
                </a:solidFill>
                <a:latin typeface="+mn-ea"/>
                <a:cs typeface="Pretendard ExtraBold"/>
              </a:rPr>
              <a:t>정의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44438" y="896112"/>
            <a:ext cx="8391908" cy="585216"/>
          </a:xfrm>
          <a:prstGeom prst="roundRect">
            <a:avLst>
              <a:gd name="adj" fmla="val 7046"/>
            </a:avLst>
          </a:prstGeom>
          <a:solidFill>
            <a:srgbClr val="FFFFFF"/>
          </a:solidFill>
          <a:ln w="13970">
            <a:solidFill>
              <a:srgbClr val="B6C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14721" y="956462"/>
            <a:ext cx="8267155" cy="46474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50" b="1" dirty="0" err="1">
                <a:solidFill>
                  <a:srgbClr val="1D3567"/>
                </a:solidFill>
                <a:latin typeface="+mn-ea"/>
                <a:cs typeface="Pretendard"/>
              </a:rPr>
              <a:t>AI·로봇·장비·데이터를</a:t>
            </a:r>
            <a:r>
              <a:rPr sz="1450" b="1" dirty="0">
                <a:solidFill>
                  <a:srgbClr val="1D3567"/>
                </a:solidFill>
                <a:latin typeface="+mn-ea"/>
                <a:cs typeface="Pretendard"/>
              </a:rPr>
              <a:t> </a:t>
            </a:r>
            <a:r>
              <a:rPr sz="1450" b="1" dirty="0" err="1">
                <a:solidFill>
                  <a:srgbClr val="1D3567"/>
                </a:solidFill>
                <a:latin typeface="+mn-ea"/>
                <a:cs typeface="Pretendard"/>
              </a:rPr>
              <a:t>결합해</a:t>
            </a:r>
            <a:r>
              <a:rPr sz="1450" b="1" dirty="0">
                <a:solidFill>
                  <a:srgbClr val="1D3567"/>
                </a:solidFill>
                <a:latin typeface="+mn-ea"/>
                <a:cs typeface="Pretendard"/>
              </a:rPr>
              <a:t> </a:t>
            </a:r>
            <a:r>
              <a:rPr sz="1450" b="1" dirty="0" err="1">
                <a:solidFill>
                  <a:srgbClr val="1D3567"/>
                </a:solidFill>
                <a:latin typeface="+mn-ea"/>
                <a:cs typeface="Pretendard"/>
              </a:rPr>
              <a:t>설계-실험-분석-학습을</a:t>
            </a:r>
            <a:r>
              <a:rPr sz="1450" b="1" dirty="0">
                <a:solidFill>
                  <a:srgbClr val="1D3567"/>
                </a:solidFill>
                <a:latin typeface="+mn-ea"/>
                <a:cs typeface="Pretendard"/>
              </a:rPr>
              <a:t> </a:t>
            </a:r>
            <a:br>
              <a:rPr lang="en-US" sz="1450" b="1" dirty="0">
                <a:solidFill>
                  <a:srgbClr val="1D3567"/>
                </a:solidFill>
                <a:latin typeface="+mn-ea"/>
                <a:cs typeface="Pretendard"/>
              </a:rPr>
            </a:br>
            <a:r>
              <a:rPr sz="1450" b="1" dirty="0" err="1">
                <a:solidFill>
                  <a:srgbClr val="1B54B5"/>
                </a:solidFill>
                <a:latin typeface="+mn-ea"/>
                <a:cs typeface="Pretendard"/>
              </a:rPr>
              <a:t>사람</a:t>
            </a:r>
            <a:r>
              <a:rPr sz="1450" b="1" dirty="0">
                <a:solidFill>
                  <a:srgbClr val="1B54B5"/>
                </a:solidFill>
                <a:latin typeface="+mn-ea"/>
                <a:cs typeface="Pretendard"/>
              </a:rPr>
              <a:t> </a:t>
            </a:r>
            <a:r>
              <a:rPr sz="1450" b="1" dirty="0" err="1">
                <a:solidFill>
                  <a:srgbClr val="1B54B5"/>
                </a:solidFill>
                <a:latin typeface="+mn-ea"/>
                <a:cs typeface="Pretendard"/>
              </a:rPr>
              <a:t>개입</a:t>
            </a:r>
            <a:r>
              <a:rPr sz="1450" b="1" dirty="0">
                <a:solidFill>
                  <a:srgbClr val="1B54B5"/>
                </a:solidFill>
                <a:latin typeface="+mn-ea"/>
                <a:cs typeface="Pretendard"/>
              </a:rPr>
              <a:t> </a:t>
            </a:r>
            <a:r>
              <a:rPr sz="1450" b="1" dirty="0" err="1">
                <a:solidFill>
                  <a:srgbClr val="1B54B5"/>
                </a:solidFill>
                <a:latin typeface="+mn-ea"/>
                <a:cs typeface="Pretendard"/>
              </a:rPr>
              <a:t>없이</a:t>
            </a:r>
            <a:r>
              <a:rPr sz="1450" b="1" dirty="0">
                <a:solidFill>
                  <a:srgbClr val="1B54B5"/>
                </a:solidFill>
                <a:latin typeface="+mn-ea"/>
                <a:cs typeface="Pretendard"/>
              </a:rPr>
              <a:t> </a:t>
            </a:r>
            <a:r>
              <a:rPr sz="1450" b="1" dirty="0" err="1">
                <a:solidFill>
                  <a:srgbClr val="1B54B5"/>
                </a:solidFill>
                <a:latin typeface="+mn-ea"/>
                <a:cs typeface="Pretendard"/>
              </a:rPr>
              <a:t>반복하는</a:t>
            </a:r>
            <a:r>
              <a:rPr sz="1450" b="1" dirty="0">
                <a:solidFill>
                  <a:srgbClr val="1B54B5"/>
                </a:solidFill>
                <a:latin typeface="+mn-ea"/>
                <a:cs typeface="Pretendard"/>
              </a:rPr>
              <a:t> </a:t>
            </a:r>
            <a:r>
              <a:rPr sz="1450" b="1" dirty="0" err="1">
                <a:solidFill>
                  <a:srgbClr val="1B54B5"/>
                </a:solidFill>
                <a:latin typeface="+mn-ea"/>
                <a:cs typeface="Pretendard"/>
              </a:rPr>
              <a:t>연구</a:t>
            </a:r>
            <a:r>
              <a:rPr sz="1450" b="1" dirty="0">
                <a:solidFill>
                  <a:srgbClr val="1B54B5"/>
                </a:solidFill>
                <a:latin typeface="+mn-ea"/>
                <a:cs typeface="Pretendard"/>
              </a:rPr>
              <a:t> </a:t>
            </a:r>
            <a:r>
              <a:rPr sz="1450" b="1" dirty="0" err="1">
                <a:solidFill>
                  <a:srgbClr val="1B54B5"/>
                </a:solidFill>
                <a:latin typeface="+mn-ea"/>
                <a:cs typeface="Pretendard"/>
              </a:rPr>
              <a:t>시스템</a:t>
            </a:r>
            <a:endParaRPr sz="1450" b="1" dirty="0">
              <a:solidFill>
                <a:srgbClr val="1B54B5"/>
              </a:solidFill>
              <a:latin typeface="+mn-ea"/>
              <a:cs typeface="Pretendard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35147" y="1591056"/>
            <a:ext cx="2843372" cy="795528"/>
          </a:xfrm>
          <a:prstGeom prst="roundRect">
            <a:avLst>
              <a:gd name="adj" fmla="val 9090"/>
            </a:avLst>
          </a:prstGeom>
          <a:solidFill>
            <a:srgbClr val="18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spcAft>
                <a:spcPts val="200"/>
              </a:spcAft>
            </a:pPr>
            <a:endParaRPr sz="1400" dirty="0">
              <a:solidFill>
                <a:srgbClr val="C7D4EC"/>
              </a:solidFill>
              <a:latin typeface="+mn-ea"/>
              <a:cs typeface="Pretendard"/>
            </a:endParaRPr>
          </a:p>
        </p:txBody>
      </p:sp>
      <p:sp>
        <p:nvSpPr>
          <p:cNvPr id="9" name="Down Arrow 8"/>
          <p:cNvSpPr/>
          <p:nvPr/>
        </p:nvSpPr>
        <p:spPr>
          <a:xfrm>
            <a:off x="1653000" y="2423160"/>
            <a:ext cx="275535" cy="216000"/>
          </a:xfrm>
          <a:prstGeom prst="downArrow">
            <a:avLst>
              <a:gd name="adj1" fmla="val 42000"/>
              <a:gd name="adj2" fmla="val 50000"/>
            </a:avLst>
          </a:prstGeom>
          <a:solidFill>
            <a:srgbClr val="18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35146" y="2671877"/>
            <a:ext cx="6602254" cy="5904098"/>
          </a:xfrm>
          <a:prstGeom prst="roundRect">
            <a:avLst>
              <a:gd name="adj" fmla="val 1235"/>
            </a:avLst>
          </a:prstGeom>
          <a:solidFill>
            <a:srgbClr val="F4F6FA"/>
          </a:solidFill>
          <a:ln w="1397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138403" y="2516429"/>
            <a:ext cx="1793314" cy="310896"/>
          </a:xfrm>
          <a:prstGeom prst="roundRect">
            <a:avLst>
              <a:gd name="adj" fmla="val 14705"/>
            </a:avLst>
          </a:prstGeom>
          <a:solidFill>
            <a:srgbClr val="FFFFFF"/>
          </a:solidFill>
          <a:ln w="19050">
            <a:solidFill>
              <a:srgbClr val="B6C6E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+mn-ea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81452" y="2854757"/>
            <a:ext cx="2697067" cy="2168957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9050">
            <a:solidFill>
              <a:srgbClr val="B6C6E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+mn-ea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91178" y="2973629"/>
            <a:ext cx="317926" cy="274320"/>
          </a:xfrm>
          <a:prstGeom prst="rect">
            <a:avLst/>
          </a:prstGeom>
          <a:solidFill>
            <a:srgbClr val="18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8000"/>
              </a:lnSpc>
            </a:pPr>
            <a:r>
              <a:rPr sz="1400" b="1" dirty="0">
                <a:solidFill>
                  <a:srgbClr val="FFFFFF"/>
                </a:solidFill>
                <a:latin typeface="+mn-e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364" y="2993837"/>
            <a:ext cx="1658510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r>
              <a:rPr sz="1400" b="1" dirty="0">
                <a:solidFill>
                  <a:srgbClr val="1D3567"/>
                </a:solidFill>
                <a:latin typeface="+mn-ea"/>
                <a:cs typeface="Pretendard"/>
              </a:rPr>
              <a:t>AI </a:t>
            </a:r>
            <a:r>
              <a:rPr sz="1400" b="1" dirty="0" err="1">
                <a:solidFill>
                  <a:srgbClr val="1D3567"/>
                </a:solidFill>
                <a:latin typeface="+mn-ea"/>
                <a:cs typeface="Pretendard"/>
              </a:rPr>
              <a:t>실험</a:t>
            </a:r>
            <a:r>
              <a:rPr sz="1400" b="1" dirty="0">
                <a:solidFill>
                  <a:srgbClr val="1D3567"/>
                </a:solidFill>
                <a:latin typeface="+mn-ea"/>
                <a:cs typeface="Pretendard"/>
              </a:rPr>
              <a:t> </a:t>
            </a:r>
            <a:r>
              <a:rPr sz="1400" b="1" dirty="0" err="1">
                <a:solidFill>
                  <a:srgbClr val="1D3567"/>
                </a:solidFill>
                <a:latin typeface="+mn-ea"/>
                <a:cs typeface="Pretendard"/>
              </a:rPr>
              <a:t>설계</a:t>
            </a:r>
            <a:endParaRPr sz="1400" b="1" dirty="0">
              <a:solidFill>
                <a:srgbClr val="1D3567"/>
              </a:solidFill>
              <a:latin typeface="+mn-ea"/>
              <a:cs typeface="Pretendard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09468" y="3311865"/>
            <a:ext cx="2400337" cy="12801"/>
          </a:xfrm>
          <a:prstGeom prst="rect">
            <a:avLst/>
          </a:prstGeom>
          <a:solidFill>
            <a:srgbClr val="DD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09468" y="3385109"/>
            <a:ext cx="2468680" cy="457369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>
              <a:lnSpc>
                <a:spcPct val="106000"/>
              </a:lnSpc>
            </a:pPr>
            <a:r>
              <a:rPr lang="ko-KR" altLang="en-US" sz="1400" spc="-150" dirty="0">
                <a:solidFill>
                  <a:srgbClr val="1A1D24"/>
                </a:solidFill>
                <a:latin typeface="+mn-ea"/>
                <a:cs typeface="Pretendard"/>
              </a:rPr>
              <a:t>연구목표</a:t>
            </a:r>
            <a:r>
              <a:rPr lang="en-US" altLang="ko-KR" sz="1400" spc="-150" dirty="0">
                <a:solidFill>
                  <a:srgbClr val="1A1D24"/>
                </a:solidFill>
                <a:latin typeface="+mn-ea"/>
                <a:cs typeface="Pretendard"/>
              </a:rPr>
              <a:t>, </a:t>
            </a:r>
            <a:r>
              <a:rPr lang="ko-KR" altLang="en-US" sz="1400" spc="-150" dirty="0">
                <a:solidFill>
                  <a:srgbClr val="1A1D24"/>
                </a:solidFill>
                <a:latin typeface="+mn-ea"/>
                <a:cs typeface="Pretendard"/>
              </a:rPr>
              <a:t>축적 데이터 기반 조건 추천</a:t>
            </a:r>
            <a:r>
              <a:rPr lang="en-US" altLang="ko-KR" sz="1400" spc="-150" dirty="0">
                <a:solidFill>
                  <a:srgbClr val="1A1D24"/>
                </a:solidFill>
                <a:latin typeface="+mn-ea"/>
                <a:cs typeface="Pretendard"/>
              </a:rPr>
              <a:t>, </a:t>
            </a:r>
            <a:r>
              <a:rPr lang="ko-KR" altLang="en-US" sz="1400" spc="-150" dirty="0">
                <a:solidFill>
                  <a:srgbClr val="1A1D24"/>
                </a:solidFill>
                <a:latin typeface="+mn-ea"/>
                <a:cs typeface="Pretendard"/>
              </a:rPr>
              <a:t>가설생성 및 실험 설계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468" y="3906317"/>
            <a:ext cx="2400337" cy="3881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>
              <a:lnSpc>
                <a:spcPct val="104000"/>
              </a:lnSpc>
            </a:pPr>
            <a:r>
              <a:rPr lang="en-US" altLang="ko-KR" sz="1200" dirty="0">
                <a:solidFill>
                  <a:srgbClr val="434C5E"/>
                </a:solidFill>
                <a:latin typeface="+mn-ea"/>
                <a:cs typeface="Pretendard"/>
              </a:rPr>
              <a:t>ex. AI </a:t>
            </a:r>
            <a:r>
              <a:rPr lang="ko-KR" altLang="en-US" sz="1200" dirty="0">
                <a:solidFill>
                  <a:srgbClr val="434C5E"/>
                </a:solidFill>
                <a:latin typeface="+mn-ea"/>
                <a:cs typeface="Pretendard"/>
              </a:rPr>
              <a:t>추천엔진</a:t>
            </a:r>
            <a:r>
              <a:rPr lang="en-US" altLang="ko-KR" sz="1200" dirty="0">
                <a:solidFill>
                  <a:srgbClr val="434C5E"/>
                </a:solidFill>
                <a:latin typeface="+mn-ea"/>
                <a:cs typeface="Pretendard"/>
              </a:rPr>
              <a:t>, </a:t>
            </a:r>
            <a:r>
              <a:rPr lang="ko-KR" altLang="en-US" sz="1200" dirty="0">
                <a:solidFill>
                  <a:srgbClr val="434C5E"/>
                </a:solidFill>
                <a:latin typeface="+mn-ea"/>
                <a:cs typeface="Pretendard"/>
              </a:rPr>
              <a:t>과거 실험 </a:t>
            </a:r>
            <a:r>
              <a:rPr lang="en-US" altLang="ko-KR" sz="1200" dirty="0">
                <a:solidFill>
                  <a:srgbClr val="434C5E"/>
                </a:solidFill>
                <a:latin typeface="+mn-ea"/>
                <a:cs typeface="Pretendard"/>
              </a:rPr>
              <a:t>DB,   </a:t>
            </a:r>
          </a:p>
          <a:p>
            <a:pPr>
              <a:lnSpc>
                <a:spcPct val="104000"/>
              </a:lnSpc>
            </a:pPr>
            <a:r>
              <a:rPr lang="en-US" altLang="ko-KR" sz="1200" dirty="0">
                <a:solidFill>
                  <a:srgbClr val="434C5E"/>
                </a:solidFill>
                <a:latin typeface="+mn-ea"/>
                <a:cs typeface="Pretendard"/>
              </a:rPr>
              <a:t>    </a:t>
            </a:r>
            <a:r>
              <a:rPr lang="ko-KR" altLang="en-US" sz="1200" dirty="0">
                <a:solidFill>
                  <a:srgbClr val="434C5E"/>
                </a:solidFill>
                <a:latin typeface="+mn-ea"/>
                <a:cs typeface="Pretendard"/>
              </a:rPr>
              <a:t>가상실험 모델 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40911" y="2854757"/>
            <a:ext cx="2697067" cy="2168957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9050">
            <a:solidFill>
              <a:srgbClr val="B6C6E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+mn-ea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350637" y="2973629"/>
            <a:ext cx="317926" cy="274320"/>
          </a:xfrm>
          <a:prstGeom prst="rect">
            <a:avLst/>
          </a:prstGeom>
          <a:solidFill>
            <a:srgbClr val="18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+mn-e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9824" y="2993837"/>
            <a:ext cx="1658510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r>
              <a:rPr sz="1400" b="1" dirty="0" err="1">
                <a:solidFill>
                  <a:srgbClr val="1D3567"/>
                </a:solidFill>
                <a:latin typeface="+mn-ea"/>
                <a:cs typeface="Pretendard"/>
              </a:rPr>
              <a:t>로봇·장비</a:t>
            </a:r>
            <a:r>
              <a:rPr sz="1400" b="1" dirty="0">
                <a:solidFill>
                  <a:srgbClr val="1D3567"/>
                </a:solidFill>
                <a:latin typeface="+mn-ea"/>
                <a:cs typeface="Pretendard"/>
              </a:rPr>
              <a:t> </a:t>
            </a:r>
            <a:r>
              <a:rPr sz="1400" b="1" dirty="0" err="1">
                <a:solidFill>
                  <a:srgbClr val="1D3567"/>
                </a:solidFill>
                <a:latin typeface="+mn-ea"/>
                <a:cs typeface="Pretendard"/>
              </a:rPr>
              <a:t>실험</a:t>
            </a:r>
            <a:r>
              <a:rPr sz="1400" b="1" dirty="0">
                <a:solidFill>
                  <a:srgbClr val="1D3567"/>
                </a:solidFill>
                <a:latin typeface="+mn-ea"/>
                <a:cs typeface="Pretendard"/>
              </a:rPr>
              <a:t> </a:t>
            </a:r>
            <a:r>
              <a:rPr sz="1400" b="1" dirty="0" err="1">
                <a:solidFill>
                  <a:srgbClr val="1D3567"/>
                </a:solidFill>
                <a:latin typeface="+mn-ea"/>
                <a:cs typeface="Pretendard"/>
              </a:rPr>
              <a:t>수행</a:t>
            </a:r>
            <a:endParaRPr sz="1400" b="1" dirty="0">
              <a:solidFill>
                <a:srgbClr val="1D3567"/>
              </a:solidFill>
              <a:latin typeface="+mn-ea"/>
              <a:cs typeface="Pretendard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368927" y="3311865"/>
            <a:ext cx="2400337" cy="12801"/>
          </a:xfrm>
          <a:prstGeom prst="rect">
            <a:avLst/>
          </a:prstGeom>
          <a:solidFill>
            <a:srgbClr val="DD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+mn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68927" y="3385109"/>
            <a:ext cx="2400337" cy="458715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>
              <a:lnSpc>
                <a:spcPct val="106000"/>
              </a:lnSpc>
            </a:pP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합성</a:t>
            </a:r>
            <a:r>
              <a:rPr sz="1400" dirty="0">
                <a:solidFill>
                  <a:srgbClr val="1A1D24"/>
                </a:solidFill>
                <a:latin typeface="+mn-ea"/>
                <a:cs typeface="Pretendard"/>
              </a:rPr>
              <a:t>,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배양</a:t>
            </a:r>
            <a:r>
              <a:rPr sz="1400" dirty="0">
                <a:solidFill>
                  <a:srgbClr val="1A1D24"/>
                </a:solidFill>
                <a:latin typeface="+mn-ea"/>
                <a:cs typeface="Pretendard"/>
              </a:rPr>
              <a:t>,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제작</a:t>
            </a:r>
            <a:r>
              <a:rPr sz="1400" dirty="0">
                <a:solidFill>
                  <a:srgbClr val="1A1D24"/>
                </a:solidFill>
                <a:latin typeface="+mn-ea"/>
                <a:cs typeface="Pretendard"/>
              </a:rPr>
              <a:t>,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측정</a:t>
            </a:r>
            <a:r>
              <a:rPr sz="1400" dirty="0">
                <a:solidFill>
                  <a:srgbClr val="1A1D24"/>
                </a:solidFill>
                <a:latin typeface="+mn-ea"/>
                <a:cs typeface="Pretendard"/>
              </a:rPr>
              <a:t> 등</a:t>
            </a:r>
            <a:br>
              <a:rPr lang="en-US" sz="1400" dirty="0">
                <a:solidFill>
                  <a:srgbClr val="1A1D24"/>
                </a:solidFill>
                <a:latin typeface="+mn-ea"/>
                <a:cs typeface="Pretendard"/>
              </a:rPr>
            </a:b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물리적</a:t>
            </a:r>
            <a:r>
              <a:rPr sz="1400" dirty="0">
                <a:solidFill>
                  <a:srgbClr val="1A1D24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실험수행</a:t>
            </a:r>
            <a:endParaRPr sz="1400" dirty="0">
              <a:solidFill>
                <a:srgbClr val="1A1D24"/>
              </a:solidFill>
              <a:latin typeface="+mn-ea"/>
              <a:cs typeface="Pretendard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368927" y="3906317"/>
            <a:ext cx="2400337" cy="19729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>
              <a:lnSpc>
                <a:spcPct val="104000"/>
              </a:lnSpc>
            </a:pPr>
            <a:r>
              <a:rPr sz="1200" spc="-50" dirty="0">
                <a:solidFill>
                  <a:srgbClr val="434C5E"/>
                </a:solidFill>
                <a:latin typeface="+mn-ea"/>
              </a:rPr>
              <a:t>ex. </a:t>
            </a:r>
            <a:r>
              <a:rPr sz="1200" spc="-50" dirty="0" err="1">
                <a:solidFill>
                  <a:srgbClr val="434C5E"/>
                </a:solidFill>
                <a:latin typeface="+mn-ea"/>
              </a:rPr>
              <a:t>로봇팔</a:t>
            </a:r>
            <a:r>
              <a:rPr sz="1200" spc="-50" dirty="0">
                <a:solidFill>
                  <a:srgbClr val="434C5E"/>
                </a:solidFill>
                <a:latin typeface="+mn-ea"/>
              </a:rPr>
              <a:t>, </a:t>
            </a:r>
            <a:r>
              <a:rPr sz="1200" spc="-50" dirty="0" err="1">
                <a:solidFill>
                  <a:srgbClr val="434C5E"/>
                </a:solidFill>
                <a:latin typeface="+mn-ea"/>
              </a:rPr>
              <a:t>액체</a:t>
            </a:r>
            <a:r>
              <a:rPr sz="1200" spc="-50" dirty="0">
                <a:solidFill>
                  <a:srgbClr val="434C5E"/>
                </a:solidFill>
                <a:latin typeface="+mn-ea"/>
              </a:rPr>
              <a:t> </a:t>
            </a:r>
            <a:r>
              <a:rPr sz="1200" spc="-50" dirty="0" err="1">
                <a:solidFill>
                  <a:srgbClr val="434C5E"/>
                </a:solidFill>
                <a:latin typeface="+mn-ea"/>
              </a:rPr>
              <a:t>핸들러</a:t>
            </a:r>
            <a:r>
              <a:rPr sz="1200" spc="-50" dirty="0">
                <a:solidFill>
                  <a:srgbClr val="434C5E"/>
                </a:solidFill>
                <a:latin typeface="+mn-ea"/>
              </a:rPr>
              <a:t>, </a:t>
            </a:r>
            <a:r>
              <a:rPr sz="1200" spc="-50" dirty="0" err="1">
                <a:solidFill>
                  <a:srgbClr val="434C5E"/>
                </a:solidFill>
                <a:latin typeface="+mn-ea"/>
              </a:rPr>
              <a:t>측정장비</a:t>
            </a:r>
            <a:r>
              <a:rPr sz="1200" spc="-50" dirty="0">
                <a:solidFill>
                  <a:srgbClr val="434C5E"/>
                </a:solidFill>
                <a:latin typeface="+mn-ea"/>
              </a:rPr>
              <a:t> 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40911" y="5426050"/>
            <a:ext cx="2697067" cy="2168957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9050">
            <a:solidFill>
              <a:srgbClr val="B6C6E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+mn-ea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350637" y="5544922"/>
            <a:ext cx="317926" cy="274320"/>
          </a:xfrm>
          <a:prstGeom prst="rect">
            <a:avLst/>
          </a:prstGeom>
          <a:solidFill>
            <a:srgbClr val="18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+mn-e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79824" y="5457414"/>
            <a:ext cx="1658510" cy="44935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r>
              <a:rPr sz="1400" b="1" dirty="0" err="1">
                <a:solidFill>
                  <a:srgbClr val="1D3567"/>
                </a:solidFill>
                <a:latin typeface="+mn-ea"/>
                <a:cs typeface="Pretendard"/>
              </a:rPr>
              <a:t>AI·분석SW의</a:t>
            </a:r>
            <a:r>
              <a:rPr sz="1400" b="1" dirty="0">
                <a:solidFill>
                  <a:srgbClr val="1D3567"/>
                </a:solidFill>
                <a:latin typeface="+mn-ea"/>
                <a:cs typeface="Pretendard"/>
              </a:rPr>
              <a:t> </a:t>
            </a:r>
            <a:r>
              <a:rPr sz="1400" b="1" dirty="0" err="1">
                <a:solidFill>
                  <a:srgbClr val="1D3567"/>
                </a:solidFill>
                <a:latin typeface="+mn-ea"/>
                <a:cs typeface="Pretendard"/>
              </a:rPr>
              <a:t>결과분석</a:t>
            </a:r>
            <a:endParaRPr sz="1400" b="1" dirty="0">
              <a:solidFill>
                <a:srgbClr val="1D3567"/>
              </a:solidFill>
              <a:latin typeface="+mn-ea"/>
              <a:cs typeface="Pretendard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368927" y="5883158"/>
            <a:ext cx="2400337" cy="12801"/>
          </a:xfrm>
          <a:prstGeom prst="rect">
            <a:avLst/>
          </a:prstGeom>
          <a:solidFill>
            <a:srgbClr val="DD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368927" y="5956402"/>
            <a:ext cx="2400337" cy="458715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>
              <a:lnSpc>
                <a:spcPct val="106000"/>
              </a:lnSpc>
            </a:pP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측정데이터</a:t>
            </a:r>
            <a:r>
              <a:rPr sz="1400" dirty="0">
                <a:solidFill>
                  <a:srgbClr val="1A1D24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분석</a:t>
            </a:r>
            <a:r>
              <a:rPr sz="1400" dirty="0">
                <a:solidFill>
                  <a:srgbClr val="1A1D24"/>
                </a:solidFill>
                <a:latin typeface="+mn-ea"/>
                <a:cs typeface="Pretendard"/>
              </a:rPr>
              <a:t>,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품질</a:t>
            </a:r>
            <a:r>
              <a:rPr sz="1400" dirty="0">
                <a:solidFill>
                  <a:srgbClr val="1A1D24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확인</a:t>
            </a:r>
            <a:r>
              <a:rPr sz="1400" dirty="0">
                <a:solidFill>
                  <a:srgbClr val="1A1D24"/>
                </a:solidFill>
                <a:latin typeface="+mn-ea"/>
                <a:cs typeface="Pretendard"/>
              </a:rPr>
              <a:t> 및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목표</a:t>
            </a:r>
            <a:r>
              <a:rPr lang="en-US" sz="1400" dirty="0">
                <a:solidFill>
                  <a:srgbClr val="1A1D24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충족</a:t>
            </a:r>
            <a:r>
              <a:rPr sz="1400" dirty="0">
                <a:solidFill>
                  <a:srgbClr val="1A1D24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여부</a:t>
            </a:r>
            <a:r>
              <a:rPr sz="1400" dirty="0">
                <a:solidFill>
                  <a:srgbClr val="1A1D24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평가</a:t>
            </a:r>
            <a:endParaRPr sz="1400" dirty="0">
              <a:solidFill>
                <a:srgbClr val="1A1D24"/>
              </a:solidFill>
              <a:latin typeface="+mn-ea"/>
              <a:cs typeface="Pretendard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368927" y="6401714"/>
            <a:ext cx="2400337" cy="45108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>
              <a:lnSpc>
                <a:spcPct val="104000"/>
              </a:lnSpc>
            </a:pP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ex.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목표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충족여부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자동판정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,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결과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시각화대시보드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 등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1452" y="5426050"/>
            <a:ext cx="2697067" cy="2168957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6510">
            <a:solidFill>
              <a:srgbClr val="21407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+mn-ea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91178" y="5544922"/>
            <a:ext cx="317926" cy="274320"/>
          </a:xfrm>
          <a:prstGeom prst="rect">
            <a:avLst/>
          </a:prstGeom>
          <a:solidFill>
            <a:srgbClr val="18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+mn-ea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364" y="5565130"/>
            <a:ext cx="1658510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r>
              <a:rPr sz="1400" b="1">
                <a:solidFill>
                  <a:srgbClr val="1D3567"/>
                </a:solidFill>
                <a:latin typeface="+mn-ea"/>
                <a:cs typeface="Pretendard"/>
              </a:rPr>
              <a:t>AI 모델 갱신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9468" y="5883158"/>
            <a:ext cx="2400337" cy="12801"/>
          </a:xfrm>
          <a:prstGeom prst="rect">
            <a:avLst/>
          </a:prstGeom>
          <a:solidFill>
            <a:srgbClr val="2140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+mn-ea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09468" y="5956402"/>
            <a:ext cx="2400337" cy="458715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>
              <a:lnSpc>
                <a:spcPct val="106000"/>
              </a:lnSpc>
            </a:pP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실험결과</a:t>
            </a:r>
            <a:r>
              <a:rPr sz="1400" dirty="0">
                <a:solidFill>
                  <a:srgbClr val="1A1D24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반영해</a:t>
            </a:r>
            <a:r>
              <a:rPr sz="1400" dirty="0">
                <a:solidFill>
                  <a:srgbClr val="1A1D24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모델</a:t>
            </a:r>
            <a:r>
              <a:rPr sz="1400" dirty="0">
                <a:solidFill>
                  <a:srgbClr val="1A1D24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갱신</a:t>
            </a:r>
            <a:r>
              <a:rPr sz="1400" dirty="0">
                <a:solidFill>
                  <a:srgbClr val="1A1D24"/>
                </a:solidFill>
                <a:latin typeface="+mn-ea"/>
                <a:cs typeface="Pretendard"/>
              </a:rPr>
              <a:t>,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다음</a:t>
            </a:r>
            <a:r>
              <a:rPr lang="en-US" sz="1400" dirty="0">
                <a:solidFill>
                  <a:srgbClr val="1A1D24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실험조건</a:t>
            </a:r>
            <a:r>
              <a:rPr sz="1400" dirty="0">
                <a:solidFill>
                  <a:srgbClr val="1A1D24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또는</a:t>
            </a:r>
            <a:r>
              <a:rPr sz="1400" dirty="0">
                <a:solidFill>
                  <a:srgbClr val="1A1D24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종료</a:t>
            </a:r>
            <a:r>
              <a:rPr sz="1400" dirty="0">
                <a:solidFill>
                  <a:srgbClr val="1A1D24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1A1D24"/>
                </a:solidFill>
                <a:latin typeface="+mn-ea"/>
                <a:cs typeface="Pretendard"/>
              </a:rPr>
              <a:t>결정</a:t>
            </a:r>
            <a:endParaRPr sz="1400" dirty="0">
              <a:solidFill>
                <a:srgbClr val="1A1D24"/>
              </a:solidFill>
              <a:latin typeface="+mn-ea"/>
              <a:cs typeface="Pretendard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09468" y="6401714"/>
            <a:ext cx="2400337" cy="45108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>
              <a:lnSpc>
                <a:spcPct val="104000"/>
              </a:lnSpc>
            </a:pP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ex.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모델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재학습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(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파인튜닝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)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파이프라인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 등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3668996" y="3838651"/>
            <a:ext cx="339121" cy="201168"/>
          </a:xfrm>
          <a:prstGeom prst="rightArrow">
            <a:avLst>
              <a:gd name="adj1" fmla="val 40000"/>
              <a:gd name="adj2" fmla="val 52000"/>
            </a:avLst>
          </a:prstGeom>
          <a:solidFill>
            <a:srgbClr val="2140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+mn-ea"/>
            </a:endParaRPr>
          </a:p>
        </p:txBody>
      </p:sp>
      <p:sp>
        <p:nvSpPr>
          <p:cNvPr id="41" name="Down Arrow 40"/>
          <p:cNvSpPr/>
          <p:nvPr/>
        </p:nvSpPr>
        <p:spPr>
          <a:xfrm>
            <a:off x="5303898" y="5078578"/>
            <a:ext cx="233145" cy="292608"/>
          </a:xfrm>
          <a:prstGeom prst="downArrow">
            <a:avLst>
              <a:gd name="adj1" fmla="val 40000"/>
              <a:gd name="adj2" fmla="val 52000"/>
            </a:avLst>
          </a:prstGeom>
          <a:solidFill>
            <a:srgbClr val="2140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+mn-ea"/>
            </a:endParaRPr>
          </a:p>
        </p:txBody>
      </p:sp>
      <p:sp>
        <p:nvSpPr>
          <p:cNvPr id="42" name="Left Arrow 41"/>
          <p:cNvSpPr/>
          <p:nvPr/>
        </p:nvSpPr>
        <p:spPr>
          <a:xfrm>
            <a:off x="3668996" y="6409487"/>
            <a:ext cx="339121" cy="201168"/>
          </a:xfrm>
          <a:prstGeom prst="leftArrow">
            <a:avLst>
              <a:gd name="adj1" fmla="val 40000"/>
              <a:gd name="adj2" fmla="val 52000"/>
            </a:avLst>
          </a:prstGeom>
          <a:solidFill>
            <a:srgbClr val="2140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+mn-ea"/>
            </a:endParaRPr>
          </a:p>
        </p:txBody>
      </p:sp>
      <p:sp>
        <p:nvSpPr>
          <p:cNvPr id="43" name="Up Arrow 42"/>
          <p:cNvSpPr/>
          <p:nvPr/>
        </p:nvSpPr>
        <p:spPr>
          <a:xfrm>
            <a:off x="1744438" y="5078578"/>
            <a:ext cx="233145" cy="292608"/>
          </a:xfrm>
          <a:prstGeom prst="upArrow">
            <a:avLst>
              <a:gd name="adj1" fmla="val 40000"/>
              <a:gd name="adj2" fmla="val 52000"/>
            </a:avLst>
          </a:prstGeom>
          <a:solidFill>
            <a:srgbClr val="2140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+mn-ea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B351E28D-DE2F-4D7D-BA5B-BAB61981C666}"/>
              </a:ext>
            </a:extLst>
          </p:cNvPr>
          <p:cNvGrpSpPr/>
          <p:nvPr/>
        </p:nvGrpSpPr>
        <p:grpSpPr>
          <a:xfrm>
            <a:off x="7724359" y="3230575"/>
            <a:ext cx="2773077" cy="1417320"/>
            <a:chOff x="7724360" y="4031634"/>
            <a:chExt cx="2240280" cy="1417320"/>
          </a:xfrm>
        </p:grpSpPr>
        <p:sp>
          <p:nvSpPr>
            <p:cNvPr id="44" name="Rectangle 43"/>
            <p:cNvSpPr/>
            <p:nvPr/>
          </p:nvSpPr>
          <p:spPr>
            <a:xfrm>
              <a:off x="7895968" y="4740294"/>
              <a:ext cx="310896" cy="0"/>
            </a:xfrm>
            <a:prstGeom prst="rect">
              <a:avLst/>
            </a:prstGeom>
            <a:noFill/>
            <a:ln w="19050">
              <a:solidFill>
                <a:srgbClr val="21407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7724360" y="4031634"/>
              <a:ext cx="2240280" cy="1417320"/>
            </a:xfrm>
            <a:prstGeom prst="roundRect">
              <a:avLst>
                <a:gd name="adj" fmla="val 3225"/>
              </a:avLst>
            </a:prstGeom>
            <a:solidFill>
              <a:srgbClr val="FFFFFF"/>
            </a:solidFill>
            <a:ln w="12700">
              <a:solidFill>
                <a:srgbClr val="21407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7724360" y="4031634"/>
              <a:ext cx="2240280" cy="310896"/>
            </a:xfrm>
            <a:prstGeom prst="roundRect">
              <a:avLst>
                <a:gd name="adj" fmla="val 14705"/>
              </a:avLst>
            </a:prstGeom>
            <a:solidFill>
              <a:srgbClr val="2140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9144" rIns="18288" bIns="9144" rtlCol="0" anchor="ctr"/>
            <a:lstStyle/>
            <a:p>
              <a:pPr algn="ctr"/>
              <a:endParaRPr sz="1150" b="1" dirty="0">
                <a:solidFill>
                  <a:srgbClr val="FFFFFF"/>
                </a:solidFill>
                <a:latin typeface="+mn-ea"/>
                <a:cs typeface="Pretendard"/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7724360" y="4251090"/>
              <a:ext cx="2240280" cy="91440"/>
            </a:xfrm>
            <a:prstGeom prst="rect">
              <a:avLst/>
            </a:prstGeom>
            <a:solidFill>
              <a:srgbClr val="2140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815800" y="4429973"/>
              <a:ext cx="2057400" cy="915507"/>
            </a:xfrm>
            <a:prstGeom prst="rect">
              <a:avLst/>
            </a:prstGeom>
            <a:noFill/>
          </p:spPr>
          <p:txBody>
            <a:bodyPr wrap="square" lIns="27432" tIns="9144" rIns="27432" bIns="9144" anchor="t">
              <a:spAutoFit/>
            </a:bodyPr>
            <a:lstStyle/>
            <a:p>
              <a:pPr algn="ctr">
                <a:lnSpc>
                  <a:spcPct val="106000"/>
                </a:lnSpc>
              </a:pP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장비·SW간</a:t>
              </a:r>
              <a:r>
                <a:rPr sz="1400" dirty="0">
                  <a:solidFill>
                    <a:srgbClr val="434C5E"/>
                  </a:solidFill>
                  <a:latin typeface="+mn-ea"/>
                  <a:cs typeface="Pretendard"/>
                </a:rPr>
                <a:t> </a:t>
              </a: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연결·호환</a:t>
              </a:r>
              <a:r>
                <a:rPr sz="1400" dirty="0">
                  <a:solidFill>
                    <a:srgbClr val="434C5E"/>
                  </a:solidFill>
                  <a:latin typeface="+mn-ea"/>
                  <a:cs typeface="Pretendard"/>
                </a:rPr>
                <a:t>, </a:t>
              </a:r>
              <a:br>
                <a:rPr lang="en-US" sz="1400" dirty="0">
                  <a:solidFill>
                    <a:srgbClr val="434C5E"/>
                  </a:solidFill>
                  <a:latin typeface="+mn-ea"/>
                  <a:cs typeface="Pretendard"/>
                </a:rPr>
              </a:b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워크플로</a:t>
              </a:r>
              <a:r>
                <a:rPr lang="en-US" sz="1400" dirty="0">
                  <a:solidFill>
                    <a:srgbClr val="434C5E"/>
                  </a:solidFill>
                  <a:latin typeface="+mn-ea"/>
                  <a:cs typeface="Pretendard"/>
                </a:rPr>
                <a:t> </a:t>
              </a: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실행·이식</a:t>
              </a:r>
              <a:r>
                <a:rPr sz="1400" dirty="0">
                  <a:solidFill>
                    <a:srgbClr val="434C5E"/>
                  </a:solidFill>
                  <a:latin typeface="+mn-ea"/>
                  <a:cs typeface="Pretendard"/>
                </a:rPr>
                <a:t> </a:t>
              </a: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지원</a:t>
              </a:r>
              <a:r>
                <a:rPr sz="1400" dirty="0">
                  <a:solidFill>
                    <a:srgbClr val="434C5E"/>
                  </a:solidFill>
                  <a:latin typeface="+mn-ea"/>
                  <a:cs typeface="Pretendard"/>
                </a:rPr>
                <a:t> </a:t>
              </a:r>
              <a:br>
                <a:rPr lang="en-US" sz="1400" dirty="0">
                  <a:solidFill>
                    <a:srgbClr val="434C5E"/>
                  </a:solidFill>
                  <a:latin typeface="+mn-ea"/>
                  <a:cs typeface="Pretendard"/>
                </a:rPr>
              </a:br>
              <a:r>
                <a:rPr sz="1400" dirty="0">
                  <a:solidFill>
                    <a:srgbClr val="434C5E"/>
                  </a:solidFill>
                  <a:latin typeface="+mn-ea"/>
                  <a:cs typeface="Pretendard"/>
                </a:rPr>
                <a:t>(</a:t>
              </a: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제조사가</a:t>
              </a:r>
              <a:r>
                <a:rPr sz="1400" dirty="0">
                  <a:solidFill>
                    <a:srgbClr val="434C5E"/>
                  </a:solidFill>
                  <a:latin typeface="+mn-ea"/>
                  <a:cs typeface="Pretendard"/>
                </a:rPr>
                <a:t> </a:t>
              </a: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달라도</a:t>
              </a:r>
              <a:r>
                <a:rPr sz="1400" dirty="0">
                  <a:solidFill>
                    <a:srgbClr val="434C5E"/>
                  </a:solidFill>
                  <a:latin typeface="+mn-ea"/>
                  <a:cs typeface="Pretendard"/>
                </a:rPr>
                <a:t> </a:t>
              </a: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동일한</a:t>
              </a:r>
              <a:r>
                <a:rPr lang="en-US" sz="1400" dirty="0">
                  <a:solidFill>
                    <a:srgbClr val="434C5E"/>
                  </a:solidFill>
                  <a:latin typeface="+mn-ea"/>
                  <a:cs typeface="Pretendard"/>
                </a:rPr>
                <a:t> </a:t>
              </a: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방식으로</a:t>
              </a:r>
              <a:r>
                <a:rPr sz="1400" dirty="0">
                  <a:solidFill>
                    <a:srgbClr val="434C5E"/>
                  </a:solidFill>
                  <a:latin typeface="+mn-ea"/>
                  <a:cs typeface="Pretendard"/>
                </a:rPr>
                <a:t> </a:t>
              </a: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연결</a:t>
              </a:r>
              <a:r>
                <a:rPr sz="1400" dirty="0">
                  <a:solidFill>
                    <a:srgbClr val="434C5E"/>
                  </a:solidFill>
                  <a:latin typeface="+mn-ea"/>
                  <a:cs typeface="Pretendard"/>
                </a:rPr>
                <a:t>)</a:t>
              </a:r>
            </a:p>
          </p:txBody>
        </p:sp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8AEC5E42-8CB5-48DD-BF00-E6E194D83A34}"/>
              </a:ext>
            </a:extLst>
          </p:cNvPr>
          <p:cNvGrpSpPr/>
          <p:nvPr/>
        </p:nvGrpSpPr>
        <p:grpSpPr>
          <a:xfrm>
            <a:off x="7711293" y="5801868"/>
            <a:ext cx="2773076" cy="1417320"/>
            <a:chOff x="7724360" y="5613546"/>
            <a:chExt cx="2240280" cy="1417320"/>
          </a:xfrm>
        </p:grpSpPr>
        <p:sp>
          <p:nvSpPr>
            <p:cNvPr id="49" name="Rectangle 48"/>
            <p:cNvSpPr/>
            <p:nvPr/>
          </p:nvSpPr>
          <p:spPr>
            <a:xfrm>
              <a:off x="7895968" y="6322206"/>
              <a:ext cx="310896" cy="0"/>
            </a:xfrm>
            <a:prstGeom prst="rect">
              <a:avLst/>
            </a:prstGeom>
            <a:noFill/>
            <a:ln w="19050">
              <a:solidFill>
                <a:srgbClr val="21407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7724360" y="5613546"/>
              <a:ext cx="2240280" cy="1417320"/>
            </a:xfrm>
            <a:prstGeom prst="roundRect">
              <a:avLst>
                <a:gd name="adj" fmla="val 3225"/>
              </a:avLst>
            </a:prstGeom>
            <a:solidFill>
              <a:srgbClr val="FFFFFF"/>
            </a:solidFill>
            <a:ln w="12700">
              <a:solidFill>
                <a:srgbClr val="21407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7724360" y="5613546"/>
              <a:ext cx="2240280" cy="310896"/>
            </a:xfrm>
            <a:prstGeom prst="roundRect">
              <a:avLst>
                <a:gd name="adj" fmla="val 14705"/>
              </a:avLst>
            </a:prstGeom>
            <a:solidFill>
              <a:srgbClr val="2140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9144" rIns="18288" bIns="9144" rtlCol="0" anchor="ctr"/>
            <a:lstStyle/>
            <a:p>
              <a:pPr algn="ctr"/>
              <a:endParaRPr sz="1150" b="1" dirty="0">
                <a:solidFill>
                  <a:srgbClr val="FFFFFF"/>
                </a:solidFill>
                <a:latin typeface="+mn-ea"/>
                <a:cs typeface="Pretendard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7724360" y="5833002"/>
              <a:ext cx="2240280" cy="91440"/>
            </a:xfrm>
            <a:prstGeom prst="rect">
              <a:avLst/>
            </a:prstGeom>
            <a:solidFill>
              <a:srgbClr val="21407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7815800" y="6099200"/>
              <a:ext cx="2057400" cy="664797"/>
            </a:xfrm>
            <a:prstGeom prst="rect">
              <a:avLst/>
            </a:prstGeom>
            <a:noFill/>
          </p:spPr>
          <p:txBody>
            <a:bodyPr wrap="square" lIns="27432" tIns="9144" rIns="27432" bIns="9144" anchor="t">
              <a:spAutoFit/>
            </a:bodyPr>
            <a:lstStyle/>
            <a:p>
              <a:pPr algn="ctr"/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데이터</a:t>
              </a:r>
              <a:r>
                <a:rPr sz="1400" dirty="0">
                  <a:solidFill>
                    <a:srgbClr val="434C5E"/>
                  </a:solidFill>
                  <a:latin typeface="+mn-ea"/>
                  <a:cs typeface="Pretendard"/>
                </a:rPr>
                <a:t>, </a:t>
              </a: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실험조건</a:t>
              </a:r>
              <a:r>
                <a:rPr sz="1400" dirty="0">
                  <a:solidFill>
                    <a:srgbClr val="434C5E"/>
                  </a:solidFill>
                  <a:latin typeface="+mn-ea"/>
                  <a:cs typeface="Pretendard"/>
                </a:rPr>
                <a:t>, </a:t>
              </a: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장비로그</a:t>
              </a:r>
              <a:r>
                <a:rPr sz="1400" dirty="0">
                  <a:solidFill>
                    <a:srgbClr val="434C5E"/>
                  </a:solidFill>
                  <a:latin typeface="+mn-ea"/>
                  <a:cs typeface="Pretendard"/>
                </a:rPr>
                <a:t>,</a:t>
              </a:r>
              <a:br>
                <a:rPr lang="en-US" sz="1400" dirty="0">
                  <a:solidFill>
                    <a:srgbClr val="434C5E"/>
                  </a:solidFill>
                  <a:latin typeface="+mn-ea"/>
                  <a:cs typeface="Pretendard"/>
                </a:rPr>
              </a:b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판정이력</a:t>
              </a:r>
              <a:r>
                <a:rPr sz="1400" dirty="0">
                  <a:solidFill>
                    <a:srgbClr val="434C5E"/>
                  </a:solidFill>
                  <a:latin typeface="+mn-ea"/>
                  <a:cs typeface="Pretendard"/>
                </a:rPr>
                <a:t> </a:t>
              </a: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등AI가</a:t>
              </a:r>
              <a:r>
                <a:rPr sz="1400" dirty="0">
                  <a:solidFill>
                    <a:srgbClr val="434C5E"/>
                  </a:solidFill>
                  <a:latin typeface="+mn-ea"/>
                  <a:cs typeface="Pretendard"/>
                </a:rPr>
                <a:t> </a:t>
              </a: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바로</a:t>
              </a:r>
              <a:r>
                <a:rPr sz="1400" dirty="0">
                  <a:solidFill>
                    <a:srgbClr val="434C5E"/>
                  </a:solidFill>
                  <a:latin typeface="+mn-ea"/>
                  <a:cs typeface="Pretendard"/>
                </a:rPr>
                <a:t> </a:t>
              </a: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학습</a:t>
              </a:r>
              <a:r>
                <a:rPr sz="1400" dirty="0">
                  <a:solidFill>
                    <a:srgbClr val="434C5E"/>
                  </a:solidFill>
                  <a:latin typeface="+mn-ea"/>
                  <a:cs typeface="Pretendard"/>
                </a:rPr>
                <a:t> </a:t>
              </a:r>
              <a:br>
                <a:rPr lang="en-US" sz="1400" dirty="0">
                  <a:solidFill>
                    <a:srgbClr val="434C5E"/>
                  </a:solidFill>
                  <a:latin typeface="+mn-ea"/>
                  <a:cs typeface="Pretendard"/>
                </a:rPr>
              </a:b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가능한</a:t>
              </a:r>
              <a:r>
                <a:rPr sz="1400" dirty="0">
                  <a:solidFill>
                    <a:srgbClr val="434C5E"/>
                  </a:solidFill>
                  <a:latin typeface="+mn-ea"/>
                  <a:cs typeface="Pretendard"/>
                </a:rPr>
                <a:t> </a:t>
              </a: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형식으로</a:t>
              </a:r>
              <a:r>
                <a:rPr sz="1400" dirty="0">
                  <a:solidFill>
                    <a:srgbClr val="434C5E"/>
                  </a:solidFill>
                  <a:latin typeface="+mn-ea"/>
                  <a:cs typeface="Pretendard"/>
                </a:rPr>
                <a:t> </a:t>
              </a:r>
              <a:r>
                <a:rPr sz="1400" dirty="0" err="1">
                  <a:solidFill>
                    <a:srgbClr val="434C5E"/>
                  </a:solidFill>
                  <a:latin typeface="+mn-ea"/>
                  <a:cs typeface="Pretendard"/>
                </a:rPr>
                <a:t>축적</a:t>
              </a:r>
              <a:endParaRPr sz="1400" dirty="0">
                <a:solidFill>
                  <a:srgbClr val="434C5E"/>
                </a:solidFill>
                <a:latin typeface="+mn-ea"/>
                <a:cs typeface="Pretendard"/>
              </a:endParaRPr>
            </a:p>
          </p:txBody>
        </p:sp>
      </p:grpSp>
      <p:sp>
        <p:nvSpPr>
          <p:cNvPr id="54" name="Rounded Rectangle 53"/>
          <p:cNvSpPr/>
          <p:nvPr/>
        </p:nvSpPr>
        <p:spPr>
          <a:xfrm>
            <a:off x="971928" y="7704734"/>
            <a:ext cx="2697067" cy="761487"/>
          </a:xfrm>
          <a:prstGeom prst="roundRect">
            <a:avLst>
              <a:gd name="adj" fmla="val 9615"/>
            </a:avLst>
          </a:prstGeom>
          <a:solidFill>
            <a:srgbClr val="18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spcAft>
                <a:spcPts val="100"/>
              </a:spcAft>
            </a:pPr>
            <a:r>
              <a:rPr sz="1200" b="1" dirty="0" err="1">
                <a:solidFill>
                  <a:srgbClr val="FFFFFF"/>
                </a:solidFill>
                <a:latin typeface="+mn-ea"/>
                <a:cs typeface="Pretendard"/>
              </a:rPr>
              <a:t>오케스트레이션</a:t>
            </a:r>
            <a:r>
              <a:rPr sz="1200" b="1" dirty="0">
                <a:solidFill>
                  <a:srgbClr val="FFFFFF"/>
                </a:solidFill>
                <a:latin typeface="+mn-ea"/>
                <a:cs typeface="Pretendard"/>
              </a:rPr>
              <a:t> SW</a:t>
            </a:r>
          </a:p>
          <a:p>
            <a:pPr algn="ctr">
              <a:lnSpc>
                <a:spcPct val="102000"/>
              </a:lnSpc>
            </a:pPr>
            <a:r>
              <a:rPr sz="1200" dirty="0" err="1">
                <a:solidFill>
                  <a:srgbClr val="C7D4EC"/>
                </a:solidFill>
                <a:latin typeface="+mn-ea"/>
                <a:cs typeface="Pretendard"/>
              </a:rPr>
              <a:t>전체</a:t>
            </a:r>
            <a:r>
              <a:rPr sz="1200" dirty="0">
                <a:solidFill>
                  <a:srgbClr val="C7D4EC"/>
                </a:solidFill>
                <a:latin typeface="+mn-ea"/>
                <a:cs typeface="Pretendard"/>
              </a:rPr>
              <a:t> </a:t>
            </a:r>
            <a:r>
              <a:rPr sz="1200" dirty="0" err="1">
                <a:solidFill>
                  <a:srgbClr val="C7D4EC"/>
                </a:solidFill>
                <a:latin typeface="+mn-ea"/>
                <a:cs typeface="Pretendard"/>
              </a:rPr>
              <a:t>워크플로</a:t>
            </a:r>
            <a:r>
              <a:rPr sz="1200" dirty="0">
                <a:solidFill>
                  <a:srgbClr val="C7D4EC"/>
                </a:solidFill>
                <a:latin typeface="+mn-ea"/>
                <a:cs typeface="Pretendard"/>
              </a:rPr>
              <a:t> </a:t>
            </a:r>
            <a:r>
              <a:rPr sz="1200" dirty="0" err="1">
                <a:solidFill>
                  <a:srgbClr val="C7D4EC"/>
                </a:solidFill>
                <a:latin typeface="+mn-ea"/>
                <a:cs typeface="Pretendard"/>
              </a:rPr>
              <a:t>실행·관리</a:t>
            </a:r>
            <a:r>
              <a:rPr sz="1200" dirty="0">
                <a:solidFill>
                  <a:srgbClr val="C7D4EC"/>
                </a:solidFill>
                <a:latin typeface="+mn-ea"/>
                <a:cs typeface="Pretendard"/>
              </a:rPr>
              <a:t> / </a:t>
            </a:r>
            <a:br>
              <a:rPr lang="en-US" sz="1200" dirty="0">
                <a:solidFill>
                  <a:srgbClr val="C7D4EC"/>
                </a:solidFill>
                <a:latin typeface="+mn-ea"/>
                <a:cs typeface="Pretendard"/>
              </a:rPr>
            </a:br>
            <a:r>
              <a:rPr sz="1200" dirty="0" err="1">
                <a:solidFill>
                  <a:srgbClr val="C7D4EC"/>
                </a:solidFill>
                <a:latin typeface="+mn-ea"/>
                <a:cs typeface="Pretendard"/>
              </a:rPr>
              <a:t>AI·로봇·장비·데이터</a:t>
            </a:r>
            <a:r>
              <a:rPr sz="1200" dirty="0">
                <a:solidFill>
                  <a:srgbClr val="C7D4EC"/>
                </a:solidFill>
                <a:latin typeface="+mn-ea"/>
                <a:cs typeface="Pretendard"/>
              </a:rPr>
              <a:t> </a:t>
            </a:r>
            <a:r>
              <a:rPr sz="1200" dirty="0" err="1">
                <a:solidFill>
                  <a:srgbClr val="C7D4EC"/>
                </a:solidFill>
                <a:latin typeface="+mn-ea"/>
                <a:cs typeface="Pretendard"/>
              </a:rPr>
              <a:t>연결</a:t>
            </a:r>
            <a:endParaRPr sz="1200" dirty="0">
              <a:solidFill>
                <a:srgbClr val="C7D4EC"/>
              </a:solidFill>
              <a:latin typeface="+mn-ea"/>
              <a:cs typeface="Pretendard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3935457" y="7713878"/>
            <a:ext cx="2551097" cy="743148"/>
          </a:xfrm>
          <a:prstGeom prst="roundRect">
            <a:avLst>
              <a:gd name="adj" fmla="val 9615"/>
            </a:avLst>
          </a:prstGeom>
          <a:solidFill>
            <a:srgbClr val="18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>
              <a:spcAft>
                <a:spcPts val="100"/>
              </a:spcAft>
            </a:pPr>
            <a:r>
              <a:rPr sz="1200" b="1" dirty="0" err="1">
                <a:solidFill>
                  <a:srgbClr val="FFFFFF"/>
                </a:solidFill>
                <a:latin typeface="+mn-ea"/>
                <a:cs typeface="Pretendard"/>
              </a:rPr>
              <a:t>안전·신뢰·검증</a:t>
            </a:r>
            <a:endParaRPr sz="1200" b="1" dirty="0">
              <a:solidFill>
                <a:srgbClr val="FFFFFF"/>
              </a:solidFill>
              <a:latin typeface="+mn-ea"/>
              <a:cs typeface="Pretendard"/>
            </a:endParaRPr>
          </a:p>
          <a:p>
            <a:pPr algn="ctr">
              <a:lnSpc>
                <a:spcPct val="102000"/>
              </a:lnSpc>
            </a:pPr>
            <a:r>
              <a:rPr sz="1200" dirty="0" err="1">
                <a:solidFill>
                  <a:srgbClr val="C7D4EC"/>
                </a:solidFill>
                <a:latin typeface="+mn-ea"/>
                <a:cs typeface="Pretendard"/>
              </a:rPr>
              <a:t>이상</a:t>
            </a:r>
            <a:r>
              <a:rPr sz="1200" dirty="0">
                <a:solidFill>
                  <a:srgbClr val="C7D4EC"/>
                </a:solidFill>
                <a:latin typeface="+mn-ea"/>
                <a:cs typeface="Pretendard"/>
              </a:rPr>
              <a:t> </a:t>
            </a:r>
            <a:r>
              <a:rPr sz="1200" dirty="0" err="1">
                <a:solidFill>
                  <a:srgbClr val="C7D4EC"/>
                </a:solidFill>
                <a:latin typeface="+mn-ea"/>
                <a:cs typeface="Pretendard"/>
              </a:rPr>
              <a:t>탐지</a:t>
            </a:r>
            <a:r>
              <a:rPr sz="1200" dirty="0">
                <a:solidFill>
                  <a:srgbClr val="C7D4EC"/>
                </a:solidFill>
                <a:latin typeface="+mn-ea"/>
                <a:cs typeface="Pretendard"/>
              </a:rPr>
              <a:t>, </a:t>
            </a:r>
            <a:r>
              <a:rPr sz="1200" dirty="0" err="1">
                <a:solidFill>
                  <a:srgbClr val="C7D4EC"/>
                </a:solidFill>
                <a:latin typeface="+mn-ea"/>
                <a:cs typeface="Pretendard"/>
              </a:rPr>
              <a:t>안전규정</a:t>
            </a:r>
            <a:r>
              <a:rPr sz="1200" dirty="0">
                <a:solidFill>
                  <a:srgbClr val="C7D4EC"/>
                </a:solidFill>
                <a:latin typeface="+mn-ea"/>
                <a:cs typeface="Pretendard"/>
              </a:rPr>
              <a:t>, </a:t>
            </a:r>
            <a:br>
              <a:rPr lang="en-US" sz="1200" dirty="0">
                <a:solidFill>
                  <a:srgbClr val="C7D4EC"/>
                </a:solidFill>
                <a:latin typeface="+mn-ea"/>
                <a:cs typeface="Pretendard"/>
              </a:rPr>
            </a:br>
            <a:r>
              <a:rPr sz="1200" dirty="0" err="1">
                <a:solidFill>
                  <a:srgbClr val="C7D4EC"/>
                </a:solidFill>
                <a:latin typeface="+mn-ea"/>
                <a:cs typeface="Pretendard"/>
              </a:rPr>
              <a:t>원데이터</a:t>
            </a:r>
            <a:r>
              <a:rPr sz="1200" dirty="0">
                <a:solidFill>
                  <a:srgbClr val="C7D4EC"/>
                </a:solidFill>
                <a:latin typeface="+mn-ea"/>
                <a:cs typeface="Pretendard"/>
              </a:rPr>
              <a:t> 및 </a:t>
            </a:r>
            <a:r>
              <a:rPr sz="1200" dirty="0" err="1">
                <a:solidFill>
                  <a:srgbClr val="C7D4EC"/>
                </a:solidFill>
                <a:latin typeface="+mn-ea"/>
                <a:cs typeface="Pretendard"/>
              </a:rPr>
              <a:t>이력추적</a:t>
            </a:r>
            <a:endParaRPr sz="1200" dirty="0">
              <a:solidFill>
                <a:srgbClr val="C7D4EC"/>
              </a:solidFill>
              <a:latin typeface="+mn-ea"/>
              <a:cs typeface="Pretendard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78949" y="8796802"/>
            <a:ext cx="4154296" cy="664797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400" b="1" dirty="0" err="1">
                <a:solidFill>
                  <a:srgbClr val="434C5E"/>
                </a:solidFill>
                <a:latin typeface="+mn-ea"/>
                <a:cs typeface="Pretendard"/>
              </a:rPr>
              <a:t>자동화</a:t>
            </a:r>
            <a:r>
              <a:rPr sz="1400" b="1" dirty="0">
                <a:solidFill>
                  <a:srgbClr val="434C5E"/>
                </a:solidFill>
                <a:latin typeface="+mn-ea"/>
                <a:cs typeface="Pretendard"/>
              </a:rPr>
              <a:t> </a:t>
            </a:r>
            <a:r>
              <a:rPr sz="1400" b="1" dirty="0" err="1">
                <a:solidFill>
                  <a:srgbClr val="434C5E"/>
                </a:solidFill>
                <a:latin typeface="+mn-ea"/>
                <a:cs typeface="Pretendard"/>
              </a:rPr>
              <a:t>실험실</a:t>
            </a:r>
            <a:r>
              <a:rPr lang="ko-KR" altLang="en-US" sz="1400" b="1" dirty="0">
                <a:solidFill>
                  <a:srgbClr val="434C5E"/>
                </a:solidFill>
                <a:latin typeface="+mn-ea"/>
                <a:cs typeface="Pretendard"/>
              </a:rPr>
              <a:t>과의 차이</a:t>
            </a:r>
            <a:br>
              <a:rPr lang="en-US" altLang="ko-KR" sz="1400" dirty="0">
                <a:solidFill>
                  <a:srgbClr val="434C5E"/>
                </a:solidFill>
                <a:latin typeface="+mn-ea"/>
                <a:cs typeface="Pretendard"/>
              </a:rPr>
            </a:b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목표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충족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여부를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AI가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스스로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판정하고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, </a:t>
            </a:r>
            <a:br>
              <a:rPr lang="en-US" sz="1400" dirty="0">
                <a:solidFill>
                  <a:srgbClr val="434C5E"/>
                </a:solidFill>
                <a:latin typeface="+mn-ea"/>
                <a:cs typeface="Pretendard"/>
              </a:rPr>
            </a:b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그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판정으로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다음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실험조건을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사람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개입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없이</a:t>
            </a:r>
            <a:r>
              <a:rPr sz="1400" dirty="0">
                <a:solidFill>
                  <a:srgbClr val="434C5E"/>
                </a:solidFill>
                <a:latin typeface="+mn-ea"/>
                <a:cs typeface="Pretendard"/>
              </a:rPr>
              <a:t> </a:t>
            </a:r>
            <a:r>
              <a:rPr sz="1400" dirty="0" err="1">
                <a:solidFill>
                  <a:srgbClr val="434C5E"/>
                </a:solidFill>
                <a:latin typeface="+mn-ea"/>
                <a:cs typeface="Pretendard"/>
              </a:rPr>
              <a:t>결정</a:t>
            </a:r>
            <a:endParaRPr sz="1400" dirty="0">
              <a:solidFill>
                <a:srgbClr val="434C5E"/>
              </a:solidFill>
              <a:latin typeface="+mn-ea"/>
              <a:cs typeface="Pretendard"/>
            </a:endParaRPr>
          </a:p>
        </p:txBody>
      </p:sp>
      <p:pic>
        <p:nvPicPr>
          <p:cNvPr id="59" name="그래픽 58" descr="사용자 단색으로 채워진">
            <a:extLst>
              <a:ext uri="{FF2B5EF4-FFF2-40B4-BE49-F238E27FC236}">
                <a16:creationId xmlns:a16="http://schemas.microsoft.com/office/drawing/2014/main" id="{E370BF87-8EAD-4F9A-B42F-8B0EC57F01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722" y="1738732"/>
            <a:ext cx="500298" cy="500298"/>
          </a:xfrm>
          <a:prstGeom prst="rect">
            <a:avLst/>
          </a:prstGeom>
        </p:spPr>
      </p:pic>
      <p:cxnSp>
        <p:nvCxnSpPr>
          <p:cNvPr id="66" name="연결선: 꺾임 65">
            <a:extLst>
              <a:ext uri="{FF2B5EF4-FFF2-40B4-BE49-F238E27FC236}">
                <a16:creationId xmlns:a16="http://schemas.microsoft.com/office/drawing/2014/main" id="{5F46C48A-1F8A-43D2-A04C-FC327088E44B}"/>
              </a:ext>
            </a:extLst>
          </p:cNvPr>
          <p:cNvCxnSpPr>
            <a:cxnSpLocks/>
            <a:stCxn id="33" idx="1"/>
            <a:endCxn id="61" idx="1"/>
          </p:cNvCxnSpPr>
          <p:nvPr/>
        </p:nvCxnSpPr>
        <p:spPr>
          <a:xfrm rot="10800000" flipV="1">
            <a:off x="571722" y="6510528"/>
            <a:ext cx="109730" cy="2618659"/>
          </a:xfrm>
          <a:prstGeom prst="bentConnector3">
            <a:avLst>
              <a:gd name="adj1" fmla="val 308330"/>
            </a:avLst>
          </a:prstGeom>
          <a:ln w="38100"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D58F8F5E-B84E-44B2-870C-2514B15D2FB0}"/>
              </a:ext>
            </a:extLst>
          </p:cNvPr>
          <p:cNvCxnSpPr>
            <a:cxnSpLocks/>
          </p:cNvCxnSpPr>
          <p:nvPr/>
        </p:nvCxnSpPr>
        <p:spPr>
          <a:xfrm>
            <a:off x="6937978" y="3877330"/>
            <a:ext cx="786382" cy="0"/>
          </a:xfrm>
          <a:prstGeom prst="line">
            <a:avLst/>
          </a:prstGeom>
          <a:ln w="38100"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D00E1E8C-2742-4934-8408-370C9FA915D8}"/>
              </a:ext>
            </a:extLst>
          </p:cNvPr>
          <p:cNvCxnSpPr>
            <a:cxnSpLocks/>
          </p:cNvCxnSpPr>
          <p:nvPr/>
        </p:nvCxnSpPr>
        <p:spPr>
          <a:xfrm>
            <a:off x="6937978" y="6635618"/>
            <a:ext cx="773315" cy="0"/>
          </a:xfrm>
          <a:prstGeom prst="line">
            <a:avLst/>
          </a:prstGeom>
          <a:ln w="38100"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연결선: 꺾임 79">
            <a:extLst>
              <a:ext uri="{FF2B5EF4-FFF2-40B4-BE49-F238E27FC236}">
                <a16:creationId xmlns:a16="http://schemas.microsoft.com/office/drawing/2014/main" id="{E3542B19-0BFF-4138-98A5-6ED3909C1E8C}"/>
              </a:ext>
            </a:extLst>
          </p:cNvPr>
          <p:cNvCxnSpPr>
            <a:cxnSpLocks/>
          </p:cNvCxnSpPr>
          <p:nvPr/>
        </p:nvCxnSpPr>
        <p:spPr>
          <a:xfrm>
            <a:off x="6937978" y="3978920"/>
            <a:ext cx="773315" cy="2569830"/>
          </a:xfrm>
          <a:prstGeom prst="bentConnector3">
            <a:avLst/>
          </a:prstGeom>
          <a:ln w="38100"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72D1DC00-115F-4359-A00C-5B240B765655}"/>
              </a:ext>
            </a:extLst>
          </p:cNvPr>
          <p:cNvSpPr txBox="1"/>
          <p:nvPr/>
        </p:nvSpPr>
        <p:spPr>
          <a:xfrm>
            <a:off x="5138403" y="2517983"/>
            <a:ext cx="17933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1D3567"/>
                </a:solidFill>
                <a:latin typeface="+mn-ea"/>
                <a:cs typeface="Pretendard"/>
              </a:rPr>
              <a:t>자율실험 </a:t>
            </a:r>
            <a:r>
              <a:rPr lang="ko-KR" altLang="en-US" sz="1400" b="1" dirty="0" err="1">
                <a:solidFill>
                  <a:srgbClr val="1D3567"/>
                </a:solidFill>
                <a:latin typeface="+mn-ea"/>
                <a:cs typeface="Pretendard"/>
              </a:rPr>
              <a:t>폐루프</a:t>
            </a:r>
            <a:endParaRPr lang="ko-KR" altLang="en-US" sz="1400" b="1" dirty="0">
              <a:solidFill>
                <a:srgbClr val="1D3567"/>
              </a:solidFill>
              <a:latin typeface="+mn-ea"/>
              <a:cs typeface="Pretendard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9C8E545-2D5E-4A8C-98F1-70CDA122E908}"/>
              </a:ext>
            </a:extLst>
          </p:cNvPr>
          <p:cNvSpPr txBox="1"/>
          <p:nvPr/>
        </p:nvSpPr>
        <p:spPr>
          <a:xfrm>
            <a:off x="7832016" y="3242828"/>
            <a:ext cx="25467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FFFFFF"/>
                </a:solidFill>
                <a:latin typeface="+mn-ea"/>
                <a:cs typeface="Pretendard"/>
              </a:rPr>
              <a:t>표준 인터페이스</a:t>
            </a:r>
            <a:r>
              <a:rPr lang="en-US" altLang="ko-KR" sz="1400" b="1" dirty="0">
                <a:solidFill>
                  <a:srgbClr val="FFFFFF"/>
                </a:solidFill>
                <a:latin typeface="+mn-ea"/>
                <a:cs typeface="Pretendard"/>
              </a:rPr>
              <a:t>·</a:t>
            </a:r>
            <a:r>
              <a:rPr lang="ko-KR" altLang="en-US" sz="1400" b="1" dirty="0">
                <a:solidFill>
                  <a:srgbClr val="FFFFFF"/>
                </a:solidFill>
                <a:latin typeface="+mn-ea"/>
                <a:cs typeface="Pretendard"/>
              </a:rPr>
              <a:t>드라이버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2F5215E-EF0C-4C26-9989-4563D1970745}"/>
              </a:ext>
            </a:extLst>
          </p:cNvPr>
          <p:cNvSpPr txBox="1"/>
          <p:nvPr/>
        </p:nvSpPr>
        <p:spPr>
          <a:xfrm>
            <a:off x="8102141" y="5818419"/>
            <a:ext cx="19913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+mn-ea"/>
                <a:cs typeface="Pretendard"/>
              </a:rPr>
              <a:t>AI-Ready </a:t>
            </a:r>
            <a:r>
              <a:rPr lang="ko-KR" altLang="en-US" sz="1400" b="1" dirty="0">
                <a:solidFill>
                  <a:srgbClr val="FFFFFF"/>
                </a:solidFill>
                <a:latin typeface="+mn-ea"/>
                <a:cs typeface="Pretendard"/>
              </a:rPr>
              <a:t>데이터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C737D45-A954-44DB-B26D-17AD112B127A}"/>
              </a:ext>
            </a:extLst>
          </p:cNvPr>
          <p:cNvSpPr txBox="1"/>
          <p:nvPr/>
        </p:nvSpPr>
        <p:spPr>
          <a:xfrm>
            <a:off x="1005125" y="1602669"/>
            <a:ext cx="2209218" cy="772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lang="ko-KR" altLang="en-US" sz="1400" b="1" dirty="0">
                <a:solidFill>
                  <a:srgbClr val="FFFFFF"/>
                </a:solidFill>
                <a:latin typeface="+mn-ea"/>
                <a:cs typeface="Pretendard"/>
              </a:rPr>
              <a:t>연구자</a:t>
            </a:r>
          </a:p>
          <a:p>
            <a:pPr algn="ctr">
              <a:lnSpc>
                <a:spcPct val="106000"/>
              </a:lnSpc>
            </a:pPr>
            <a:r>
              <a:rPr lang="ko-KR" altLang="en-US" sz="1400" dirty="0">
                <a:solidFill>
                  <a:srgbClr val="C7D4EC"/>
                </a:solidFill>
                <a:latin typeface="+mn-ea"/>
                <a:cs typeface="Pretendard"/>
              </a:rPr>
              <a:t>연구목표</a:t>
            </a:r>
            <a:r>
              <a:rPr lang="en-US" altLang="ko-KR" sz="1400" dirty="0">
                <a:solidFill>
                  <a:srgbClr val="C7D4EC"/>
                </a:solidFill>
                <a:latin typeface="+mn-ea"/>
                <a:cs typeface="Pretendard"/>
              </a:rPr>
              <a:t>·</a:t>
            </a:r>
            <a:r>
              <a:rPr lang="ko-KR" altLang="en-US" sz="1400" dirty="0">
                <a:solidFill>
                  <a:srgbClr val="C7D4EC"/>
                </a:solidFill>
                <a:latin typeface="+mn-ea"/>
                <a:cs typeface="Pretendard"/>
              </a:rPr>
              <a:t>제약조건 설정</a:t>
            </a:r>
          </a:p>
          <a:p>
            <a:pPr algn="ctr">
              <a:lnSpc>
                <a:spcPct val="106000"/>
              </a:lnSpc>
            </a:pPr>
            <a:r>
              <a:rPr lang="ko-KR" altLang="en-US" sz="1400" dirty="0">
                <a:solidFill>
                  <a:srgbClr val="C7D4EC"/>
                </a:solidFill>
                <a:latin typeface="+mn-ea"/>
                <a:cs typeface="Pretendard"/>
              </a:rPr>
              <a:t>결과 해석</a:t>
            </a:r>
            <a:r>
              <a:rPr lang="en-US" altLang="ko-KR" sz="1400" dirty="0">
                <a:solidFill>
                  <a:srgbClr val="C7D4EC"/>
                </a:solidFill>
                <a:latin typeface="+mn-ea"/>
                <a:cs typeface="Pretendard"/>
              </a:rPr>
              <a:t>·</a:t>
            </a:r>
            <a:r>
              <a:rPr lang="ko-KR" altLang="en-US" sz="1400" dirty="0">
                <a:solidFill>
                  <a:srgbClr val="C7D4EC"/>
                </a:solidFill>
                <a:latin typeface="+mn-ea"/>
                <a:cs typeface="Pretendard"/>
              </a:rPr>
              <a:t>검토</a:t>
            </a:r>
          </a:p>
        </p:txBody>
      </p:sp>
      <p:pic>
        <p:nvPicPr>
          <p:cNvPr id="93" name="예시 사진 1-1 AI 추천엔진" descr="AI 실험 설계 예시: AI 추천엔진 · 과거 실험 데이터베이스 · 가상실험 모델 — AI 추천엔진"/>
          <p:cNvPicPr>
            <a:picLocks noChangeAspect="1"/>
          </p:cNvPicPr>
          <p:nvPr/>
        </p:nvPicPr>
        <p:blipFill>
          <a:blip r:embed="rId4"/>
          <a:srcRect l="12" r="12"/>
          <a:stretch>
            <a:fillRect/>
          </a:stretch>
        </p:blipFill>
        <p:spPr>
          <a:xfrm>
            <a:off x="827756" y="4372661"/>
            <a:ext cx="766584" cy="530352"/>
          </a:xfrm>
          <a:prstGeom prst="roundRect">
            <a:avLst>
              <a:gd name="adj" fmla="val 7000"/>
            </a:avLst>
          </a:prstGeom>
          <a:ln w="12700">
            <a:solidFill>
              <a:srgbClr val="DDE0E6"/>
            </a:solidFill>
          </a:ln>
        </p:spPr>
      </p:pic>
      <p:pic>
        <p:nvPicPr>
          <p:cNvPr id="94" name="예시 사진 1-2 과거 실험 DB" descr="AI 실험 설계 예시: AI 추천엔진 · 과거 실험 데이터베이스 · 가상실험 모델 — 과거 실험 DB"/>
          <p:cNvPicPr>
            <a:picLocks noChangeAspect="1"/>
          </p:cNvPicPr>
          <p:nvPr/>
        </p:nvPicPr>
        <p:blipFill>
          <a:blip r:embed="rId5"/>
          <a:srcRect l="12" r="12"/>
          <a:stretch>
            <a:fillRect/>
          </a:stretch>
        </p:blipFill>
        <p:spPr>
          <a:xfrm>
            <a:off x="1626344" y="4372661"/>
            <a:ext cx="766584" cy="530352"/>
          </a:xfrm>
          <a:prstGeom prst="roundRect">
            <a:avLst>
              <a:gd name="adj" fmla="val 7000"/>
            </a:avLst>
          </a:prstGeom>
          <a:ln w="12700">
            <a:solidFill>
              <a:srgbClr val="DDE0E6"/>
            </a:solidFill>
          </a:ln>
        </p:spPr>
      </p:pic>
      <p:pic>
        <p:nvPicPr>
          <p:cNvPr id="95" name="예시 사진 1-3 가상실험 모델" descr="AI 실험 설계 예시: AI 추천엔진 · 과거 실험 데이터베이스 · 가상실험 모델 — 가상실험 모델"/>
          <p:cNvPicPr>
            <a:picLocks noChangeAspect="1"/>
          </p:cNvPicPr>
          <p:nvPr/>
        </p:nvPicPr>
        <p:blipFill>
          <a:blip r:embed="rId6"/>
          <a:srcRect l="12" r="12"/>
          <a:stretch>
            <a:fillRect/>
          </a:stretch>
        </p:blipFill>
        <p:spPr>
          <a:xfrm>
            <a:off x="2424932" y="4372661"/>
            <a:ext cx="766584" cy="530352"/>
          </a:xfrm>
          <a:prstGeom prst="roundRect">
            <a:avLst>
              <a:gd name="adj" fmla="val 7000"/>
            </a:avLst>
          </a:prstGeom>
          <a:ln w="12700">
            <a:solidFill>
              <a:srgbClr val="DDE0E6"/>
            </a:solidFill>
          </a:ln>
        </p:spPr>
      </p:pic>
      <p:pic>
        <p:nvPicPr>
          <p:cNvPr id="96" name="예시 사진 2-1 로봇팔" descr="로봇·장비 실험 수행 예시: 로봇팔 · 액체 핸들러 · 측정장비 — 로봇팔"/>
          <p:cNvPicPr>
            <a:picLocks noChangeAspect="1"/>
          </p:cNvPicPr>
          <p:nvPr/>
        </p:nvPicPr>
        <p:blipFill>
          <a:blip r:embed="rId7"/>
          <a:srcRect l="12" r="12"/>
          <a:stretch>
            <a:fillRect/>
          </a:stretch>
        </p:blipFill>
        <p:spPr>
          <a:xfrm>
            <a:off x="4387215" y="4372661"/>
            <a:ext cx="766584" cy="530352"/>
          </a:xfrm>
          <a:prstGeom prst="roundRect">
            <a:avLst>
              <a:gd name="adj" fmla="val 7000"/>
            </a:avLst>
          </a:prstGeom>
          <a:ln w="12700">
            <a:solidFill>
              <a:srgbClr val="DDE0E6"/>
            </a:solidFill>
          </a:ln>
        </p:spPr>
      </p:pic>
      <p:pic>
        <p:nvPicPr>
          <p:cNvPr id="97" name="예시 사진 2-2 액체 핸들러" descr="로봇·장비 실험 수행 예시: 로봇팔 · 액체 핸들러 · 측정장비 — 액체 핸들러"/>
          <p:cNvPicPr>
            <a:picLocks noChangeAspect="1"/>
          </p:cNvPicPr>
          <p:nvPr/>
        </p:nvPicPr>
        <p:blipFill>
          <a:blip r:embed="rId8"/>
          <a:srcRect l="12" r="12"/>
          <a:stretch>
            <a:fillRect/>
          </a:stretch>
        </p:blipFill>
        <p:spPr>
          <a:xfrm>
            <a:off x="5185803" y="4372661"/>
            <a:ext cx="766584" cy="530352"/>
          </a:xfrm>
          <a:prstGeom prst="roundRect">
            <a:avLst>
              <a:gd name="adj" fmla="val 7000"/>
            </a:avLst>
          </a:prstGeom>
          <a:ln w="12700">
            <a:solidFill>
              <a:srgbClr val="DDE0E6"/>
            </a:solidFill>
          </a:ln>
        </p:spPr>
      </p:pic>
      <p:pic>
        <p:nvPicPr>
          <p:cNvPr id="98" name="예시 사진 2-3 측정장비" descr="로봇·장비 실험 수행 예시: 로봇팔 · 액체 핸들러 · 측정장비 — 측정장비"/>
          <p:cNvPicPr>
            <a:picLocks noChangeAspect="1"/>
          </p:cNvPicPr>
          <p:nvPr/>
        </p:nvPicPr>
        <p:blipFill>
          <a:blip r:embed="rId9"/>
          <a:srcRect l="12" r="12"/>
          <a:stretch>
            <a:fillRect/>
          </a:stretch>
        </p:blipFill>
        <p:spPr>
          <a:xfrm>
            <a:off x="5984391" y="4372661"/>
            <a:ext cx="766584" cy="530352"/>
          </a:xfrm>
          <a:prstGeom prst="roundRect">
            <a:avLst>
              <a:gd name="adj" fmla="val 7000"/>
            </a:avLst>
          </a:prstGeom>
          <a:ln w="12700">
            <a:solidFill>
              <a:srgbClr val="DDE0E6"/>
            </a:solidFill>
          </a:ln>
        </p:spPr>
      </p:pic>
      <p:pic>
        <p:nvPicPr>
          <p:cNvPr id="99" name="예시 사진 3-1 측정데이터 분석" descr="AI·분석SW 결과분석 예시: 측정데이터 분석 · 목표 충족여부 자동판정 · 결과 시각화 대시보드 — 측정데이터 분석"/>
          <p:cNvPicPr>
            <a:picLocks noChangeAspect="1"/>
          </p:cNvPicPr>
          <p:nvPr/>
        </p:nvPicPr>
        <p:blipFill>
          <a:blip r:embed="rId10"/>
          <a:srcRect l="12" r="12"/>
          <a:stretch>
            <a:fillRect/>
          </a:stretch>
        </p:blipFill>
        <p:spPr>
          <a:xfrm>
            <a:off x="4387215" y="6943954"/>
            <a:ext cx="766584" cy="530352"/>
          </a:xfrm>
          <a:prstGeom prst="roundRect">
            <a:avLst>
              <a:gd name="adj" fmla="val 7000"/>
            </a:avLst>
          </a:prstGeom>
          <a:ln w="12700">
            <a:solidFill>
              <a:srgbClr val="DDE0E6"/>
            </a:solidFill>
          </a:ln>
        </p:spPr>
      </p:pic>
      <p:pic>
        <p:nvPicPr>
          <p:cNvPr id="100" name="예시 사진 3-2 목표충족 자동판정" descr="AI·분석SW 결과분석 예시: 측정데이터 분석 · 목표 충족여부 자동판정 · 결과 시각화 대시보드 — 목표충족 자동판정"/>
          <p:cNvPicPr>
            <a:picLocks noChangeAspect="1"/>
          </p:cNvPicPr>
          <p:nvPr/>
        </p:nvPicPr>
        <p:blipFill>
          <a:blip r:embed="rId11"/>
          <a:srcRect l="12" r="12"/>
          <a:stretch>
            <a:fillRect/>
          </a:stretch>
        </p:blipFill>
        <p:spPr>
          <a:xfrm>
            <a:off x="5185803" y="6943954"/>
            <a:ext cx="766584" cy="530352"/>
          </a:xfrm>
          <a:prstGeom prst="roundRect">
            <a:avLst>
              <a:gd name="adj" fmla="val 7000"/>
            </a:avLst>
          </a:prstGeom>
          <a:ln w="12700">
            <a:solidFill>
              <a:srgbClr val="DDE0E6"/>
            </a:solidFill>
          </a:ln>
        </p:spPr>
      </p:pic>
      <p:pic>
        <p:nvPicPr>
          <p:cNvPr id="101" name="예시 사진 3-3 시각화 대시보드" descr="AI·분석SW 결과분석 예시: 측정데이터 분석 · 목표 충족여부 자동판정 · 결과 시각화 대시보드 — 시각화 대시보드"/>
          <p:cNvPicPr>
            <a:picLocks noChangeAspect="1"/>
          </p:cNvPicPr>
          <p:nvPr/>
        </p:nvPicPr>
        <p:blipFill>
          <a:blip r:embed="rId12"/>
          <a:srcRect l="12" r="12"/>
          <a:stretch>
            <a:fillRect/>
          </a:stretch>
        </p:blipFill>
        <p:spPr>
          <a:xfrm>
            <a:off x="5984391" y="6943954"/>
            <a:ext cx="766584" cy="530352"/>
          </a:xfrm>
          <a:prstGeom prst="roundRect">
            <a:avLst>
              <a:gd name="adj" fmla="val 7000"/>
            </a:avLst>
          </a:prstGeom>
          <a:ln w="12700">
            <a:solidFill>
              <a:srgbClr val="DDE0E6"/>
            </a:solidFill>
          </a:ln>
        </p:spPr>
      </p:pic>
      <p:pic>
        <p:nvPicPr>
          <p:cNvPr id="102" name="예시 사진 4-1 모델 재학습" descr="AI 모델 갱신 예시: 모델 재학습 · 파인튜닝 파이프라인 · 다음 실험조건 또는 종료 결정 — 모델 재학습"/>
          <p:cNvPicPr>
            <a:picLocks noChangeAspect="1"/>
          </p:cNvPicPr>
          <p:nvPr/>
        </p:nvPicPr>
        <p:blipFill>
          <a:blip r:embed="rId13"/>
          <a:srcRect l="12" r="12"/>
          <a:stretch>
            <a:fillRect/>
          </a:stretch>
        </p:blipFill>
        <p:spPr>
          <a:xfrm>
            <a:off x="827756" y="6943954"/>
            <a:ext cx="766584" cy="530352"/>
          </a:xfrm>
          <a:prstGeom prst="roundRect">
            <a:avLst>
              <a:gd name="adj" fmla="val 7000"/>
            </a:avLst>
          </a:prstGeom>
          <a:ln w="12700">
            <a:solidFill>
              <a:srgbClr val="DDE0E6"/>
            </a:solidFill>
          </a:ln>
        </p:spPr>
      </p:pic>
      <p:pic>
        <p:nvPicPr>
          <p:cNvPr id="103" name="예시 사진 4-2 파인튜닝 파이프라인" descr="AI 모델 갱신 예시: 모델 재학습 · 파인튜닝 파이프라인 · 다음 실험조건 또는 종료 결정 — 파인튜닝 파이프라인"/>
          <p:cNvPicPr>
            <a:picLocks noChangeAspect="1"/>
          </p:cNvPicPr>
          <p:nvPr/>
        </p:nvPicPr>
        <p:blipFill>
          <a:blip r:embed="rId14"/>
          <a:srcRect l="12" r="12"/>
          <a:stretch>
            <a:fillRect/>
          </a:stretch>
        </p:blipFill>
        <p:spPr>
          <a:xfrm>
            <a:off x="1626344" y="6943954"/>
            <a:ext cx="766584" cy="530352"/>
          </a:xfrm>
          <a:prstGeom prst="roundRect">
            <a:avLst>
              <a:gd name="adj" fmla="val 7000"/>
            </a:avLst>
          </a:prstGeom>
          <a:ln w="12700">
            <a:solidFill>
              <a:srgbClr val="DDE0E6"/>
            </a:solidFill>
          </a:ln>
        </p:spPr>
      </p:pic>
      <p:pic>
        <p:nvPicPr>
          <p:cNvPr id="104" name="예시 사진 4-3 다음조건·종료 결정" descr="AI 모델 갱신 예시: 모델 재학습 · 파인튜닝 파이프라인 · 다음 실험조건 또는 종료 결정 — 다음조건·종료 결정"/>
          <p:cNvPicPr>
            <a:picLocks noChangeAspect="1"/>
          </p:cNvPicPr>
          <p:nvPr/>
        </p:nvPicPr>
        <p:blipFill>
          <a:blip r:embed="rId15"/>
          <a:srcRect l="12" r="12"/>
          <a:stretch>
            <a:fillRect/>
          </a:stretch>
        </p:blipFill>
        <p:spPr>
          <a:xfrm>
            <a:off x="2424932" y="6943954"/>
            <a:ext cx="766584" cy="530352"/>
          </a:xfrm>
          <a:prstGeom prst="roundRect">
            <a:avLst>
              <a:gd name="adj" fmla="val 7000"/>
            </a:avLst>
          </a:prstGeom>
          <a:ln w="12700">
            <a:solidFill>
              <a:srgbClr val="DDE0E6"/>
            </a:solidFill>
          </a:ln>
        </p:spPr>
      </p:pic>
    </p:spTree>
    <p:extLst>
      <p:ext uri="{BB962C8B-B14F-4D97-AF65-F5344CB8AC3E}">
        <p14:creationId xmlns:p14="http://schemas.microsoft.com/office/powerpoint/2010/main" val="4188300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244</Words>
  <Application>Microsoft Office PowerPoint</Application>
  <PresentationFormat>사용자 지정</PresentationFormat>
  <Paragraphs>34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Calibri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AIX</dc:creator>
  <cp:keywords/>
  <dc:description>generated using python-pptx</dc:description>
  <cp:lastModifiedBy>AIX</cp:lastModifiedBy>
  <cp:revision>69</cp:revision>
  <dcterms:created xsi:type="dcterms:W3CDTF">2013-01-27T09:14:16Z</dcterms:created>
  <dcterms:modified xsi:type="dcterms:W3CDTF">2026-08-19T02:38:15Z</dcterms:modified>
  <cp:category/>
</cp:coreProperties>
</file>