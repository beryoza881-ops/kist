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0799763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9" userDrawn="1">
          <p15:clr>
            <a:srgbClr val="A4A3A4"/>
          </p15:clr>
        </p15:guide>
        <p15:guide id="2" pos="34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244" y="96"/>
      </p:cViewPr>
      <p:guideLst>
        <p:guide orient="horz" pos="2639"/>
        <p:guide pos="34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130" y="2603192"/>
            <a:ext cx="9328800" cy="17962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6259" y="4748594"/>
            <a:ext cx="7682541" cy="21415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54" y="5384845"/>
            <a:ext cx="9328800" cy="16643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54" y="3551748"/>
            <a:ext cx="9328800" cy="18330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753" y="1955304"/>
            <a:ext cx="4847318" cy="5530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8988" y="1955304"/>
            <a:ext cx="4847318" cy="5530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753" y="1875774"/>
            <a:ext cx="4849224" cy="7817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753" y="2657507"/>
            <a:ext cx="4849224" cy="4828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5179" y="1875774"/>
            <a:ext cx="4851129" cy="7817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5179" y="2657507"/>
            <a:ext cx="4851129" cy="4828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755" y="333644"/>
            <a:ext cx="3610719" cy="141992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943" y="333643"/>
            <a:ext cx="6135363" cy="7151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755" y="1753567"/>
            <a:ext cx="3610719" cy="57320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1189" y="5865910"/>
            <a:ext cx="6585035" cy="69250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1189" y="748758"/>
            <a:ext cx="6585035" cy="50279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1189" y="6558414"/>
            <a:ext cx="6585035" cy="98347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6918" y="335585"/>
            <a:ext cx="2469388" cy="71500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753" y="335585"/>
            <a:ext cx="7225247" cy="7150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753" y="335584"/>
            <a:ext cx="9877553" cy="13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753" y="1955304"/>
            <a:ext cx="9877553" cy="5530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753" y="7766900"/>
            <a:ext cx="2560847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812" y="7766900"/>
            <a:ext cx="3475435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5459" y="7766900"/>
            <a:ext cx="2560847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AA1B1CF-0836-4BF0-AE4B-480EF1F5EF61}"/>
              </a:ext>
            </a:extLst>
          </p:cNvPr>
          <p:cNvSpPr/>
          <p:nvPr/>
        </p:nvSpPr>
        <p:spPr>
          <a:xfrm>
            <a:off x="571722" y="8589206"/>
            <a:ext cx="4768751" cy="876781"/>
          </a:xfrm>
          <a:prstGeom prst="roundRect">
            <a:avLst>
              <a:gd name="adj" fmla="val 7447"/>
            </a:avLst>
          </a:prstGeom>
          <a:solidFill>
            <a:srgbClr val="CBD6EB"/>
          </a:solidFill>
          <a:ln w="19050">
            <a:solidFill>
              <a:srgbClr val="CBD6E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Rounded Rectangle 1"/>
          <p:cNvSpPr/>
          <p:nvPr/>
        </p:nvSpPr>
        <p:spPr>
          <a:xfrm>
            <a:off x="535145" y="645675"/>
            <a:ext cx="1155861" cy="778546"/>
          </a:xfrm>
          <a:prstGeom prst="roundRect">
            <a:avLst>
              <a:gd name="adj" fmla="val 7046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500" dirty="0" err="1">
                <a:solidFill>
                  <a:srgbClr val="FFFFFF"/>
                </a:solidFill>
                <a:latin typeface="+mn-ea"/>
                <a:cs typeface="Pretendard ExtraBold"/>
              </a:rPr>
              <a:t>개념</a:t>
            </a:r>
            <a:endParaRPr sz="1500" dirty="0">
              <a:solidFill>
                <a:srgbClr val="FFFFFF"/>
              </a:solidFill>
              <a:latin typeface="+mn-ea"/>
              <a:cs typeface="Pretendard Extra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744438" y="645675"/>
            <a:ext cx="8391908" cy="77854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13970">
            <a:solidFill>
              <a:srgbClr val="B6C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14721" y="841049"/>
            <a:ext cx="8267155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400">
                <a:solidFill>
                  <a:srgbClr val="1D3567"/>
                </a:solidFill>
                <a:latin typeface="+mn-ea"/>
                <a:cs typeface="Pretendard ExtraBold"/>
              </a:rPr>
              <a:t>자율실험실 </a:t>
            </a:r>
            <a:r>
              <a:rPr sz="2400">
                <a:solidFill>
                  <a:srgbClr val="1B54B5"/>
                </a:solidFill>
                <a:latin typeface="+mn-ea"/>
                <a:cs typeface="Pretendard ExtraBold"/>
              </a:rPr>
              <a:t>(Self-Driving Laboratory, SDL)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5145" y="1533949"/>
            <a:ext cx="1155861" cy="778546"/>
          </a:xfrm>
          <a:prstGeom prst="roundRect">
            <a:avLst>
              <a:gd name="adj" fmla="val 7046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500">
                <a:solidFill>
                  <a:srgbClr val="FFFFFF"/>
                </a:solidFill>
                <a:latin typeface="+mn-ea"/>
                <a:cs typeface="Pretendard ExtraBold"/>
              </a:rPr>
              <a:t>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44438" y="1533949"/>
            <a:ext cx="8391908" cy="77854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13970">
            <a:solidFill>
              <a:srgbClr val="B6C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14721" y="1690852"/>
            <a:ext cx="8267155" cy="46474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AI·로봇·장비·데이터를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결합해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설계-실험-분석-학습을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br>
              <a:rPr lang="en-US" sz="1450" b="1" dirty="0">
                <a:solidFill>
                  <a:srgbClr val="1D3567"/>
                </a:solidFill>
                <a:latin typeface="+mn-ea"/>
                <a:cs typeface="Pretendard"/>
              </a:rPr>
            </a:b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사람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개입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없이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반복하는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연구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시스템</a:t>
            </a:r>
            <a:endParaRPr sz="1450" b="1" dirty="0">
              <a:solidFill>
                <a:srgbClr val="1B54B5"/>
              </a:solidFill>
              <a:latin typeface="+mn-ea"/>
              <a:cs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147" y="2432601"/>
            <a:ext cx="2843372" cy="796630"/>
          </a:xfrm>
          <a:prstGeom prst="roundRect">
            <a:avLst>
              <a:gd name="adj" fmla="val 9090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spcAft>
                <a:spcPts val="200"/>
              </a:spcAft>
            </a:pPr>
            <a:endParaRPr sz="14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653000" y="3267329"/>
            <a:ext cx="275535" cy="216000"/>
          </a:xfrm>
          <a:prstGeom prst="downArrow">
            <a:avLst>
              <a:gd name="adj1" fmla="val 42000"/>
              <a:gd name="adj2" fmla="val 50000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5146" y="3516249"/>
            <a:ext cx="6602254" cy="4572000"/>
          </a:xfrm>
          <a:prstGeom prst="roundRect">
            <a:avLst>
              <a:gd name="adj" fmla="val 1235"/>
            </a:avLst>
          </a:prstGeom>
          <a:solidFill>
            <a:srgbClr val="F4F6FA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38403" y="3356383"/>
            <a:ext cx="1793314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1452" y="3780627"/>
            <a:ext cx="2697067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1178" y="3899499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 dirty="0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364" y="3919706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AI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실험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설계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468" y="4237829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468" y="4310979"/>
            <a:ext cx="2468680" cy="45736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연구목표</a:t>
            </a:r>
            <a:r>
              <a:rPr lang="en-US" altLang="ko-KR" sz="1400" spc="-15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축적 데이터 기반 조건 추천</a:t>
            </a:r>
            <a:r>
              <a:rPr lang="en-US" altLang="ko-KR" sz="1400" spc="-15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가설생성 및 실험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962" y="4832451"/>
            <a:ext cx="2132135" cy="38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ex. AI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추천엔진</a:t>
            </a: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과거 실험 </a:t>
            </a: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DB,   </a:t>
            </a:r>
          </a:p>
          <a:p>
            <a:pPr>
              <a:lnSpc>
                <a:spcPct val="104000"/>
              </a:lnSpc>
            </a:pP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   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가상실험 모델 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0911" y="3780627"/>
            <a:ext cx="2697067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50637" y="3899499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824" y="3919704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로봇·장비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실험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수행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68927" y="4237829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8927" y="4310979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합성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배양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제작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측정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등</a:t>
            </a:r>
            <a:b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</a:b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물리적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실험수행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68927" y="4832451"/>
            <a:ext cx="2400337" cy="1972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200" spc="-50" dirty="0">
                <a:solidFill>
                  <a:srgbClr val="434C5E"/>
                </a:solidFill>
                <a:latin typeface="+mn-ea"/>
              </a:rPr>
              <a:t>ex.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로봇팔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,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액체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핸들러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,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측정장비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 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0911" y="5774019"/>
            <a:ext cx="2697067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50637" y="5892891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824" y="5805376"/>
            <a:ext cx="165851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AI·분석SW의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결과분석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368927" y="6231221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68927" y="6304371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측정데이터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분석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품질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확인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및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목표</a:t>
            </a:r>
            <a: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충족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여부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평가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68927" y="6749635"/>
            <a:ext cx="2400337" cy="45108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ex.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목표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충족여부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자동판정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결과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시각화대시보드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452" y="5774019"/>
            <a:ext cx="2697067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6510">
            <a:solidFill>
              <a:srgbClr val="21407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91178" y="5892891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364" y="5913098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>
                <a:solidFill>
                  <a:srgbClr val="1D3567"/>
                </a:solidFill>
                <a:latin typeface="+mn-ea"/>
                <a:cs typeface="Pretendard"/>
              </a:rPr>
              <a:t>AI 모델 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468" y="6231221"/>
            <a:ext cx="2400337" cy="12801"/>
          </a:xfrm>
          <a:prstGeom prst="rect">
            <a:avLst/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9468" y="6304371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실험결과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반영해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모델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갱신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다음</a:t>
            </a:r>
            <a: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실험조건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또는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종료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결정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9468" y="6749633"/>
            <a:ext cx="2400337" cy="45108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ex.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모델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재학습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(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파인튜닝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)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파이프라인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등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668996" y="4420707"/>
            <a:ext cx="339121" cy="201168"/>
          </a:xfrm>
          <a:prstGeom prst="right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5303898" y="5371683"/>
            <a:ext cx="233145" cy="292608"/>
          </a:xfrm>
          <a:prstGeom prst="down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2" name="Left Arrow 41"/>
          <p:cNvSpPr/>
          <p:nvPr/>
        </p:nvSpPr>
        <p:spPr>
          <a:xfrm>
            <a:off x="3668996" y="6414099"/>
            <a:ext cx="339121" cy="201168"/>
          </a:xfrm>
          <a:prstGeom prst="left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3" name="Up Arrow 42"/>
          <p:cNvSpPr/>
          <p:nvPr/>
        </p:nvSpPr>
        <p:spPr>
          <a:xfrm>
            <a:off x="1744438" y="5371683"/>
            <a:ext cx="233145" cy="292608"/>
          </a:xfrm>
          <a:prstGeom prst="up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351E28D-DE2F-4D7D-BA5B-BAB61981C666}"/>
              </a:ext>
            </a:extLst>
          </p:cNvPr>
          <p:cNvGrpSpPr/>
          <p:nvPr/>
        </p:nvGrpSpPr>
        <p:grpSpPr>
          <a:xfrm>
            <a:off x="7724359" y="3812631"/>
            <a:ext cx="2773077" cy="1417320"/>
            <a:chOff x="7724360" y="4031634"/>
            <a:chExt cx="2240280" cy="1417320"/>
          </a:xfrm>
        </p:grpSpPr>
        <p:sp>
          <p:nvSpPr>
            <p:cNvPr id="44" name="Rectangle 43"/>
            <p:cNvSpPr/>
            <p:nvPr/>
          </p:nvSpPr>
          <p:spPr>
            <a:xfrm>
              <a:off x="7895968" y="4740294"/>
              <a:ext cx="310896" cy="0"/>
            </a:xfrm>
            <a:prstGeom prst="rect">
              <a:avLst/>
            </a:prstGeom>
            <a:noFill/>
            <a:ln w="19050">
              <a:solidFill>
                <a:srgbClr val="2140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724360" y="4031634"/>
              <a:ext cx="2240280" cy="1417320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2140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7724360" y="4031634"/>
              <a:ext cx="2240280" cy="310896"/>
            </a:xfrm>
            <a:prstGeom prst="roundRect">
              <a:avLst>
                <a:gd name="adj" fmla="val 14705"/>
              </a:avLst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endParaRPr sz="1150" b="1" dirty="0">
                <a:solidFill>
                  <a:srgbClr val="FFFFFF"/>
                </a:solidFill>
                <a:latin typeface="+mn-ea"/>
                <a:cs typeface="Pretendard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724360" y="4251090"/>
              <a:ext cx="2240280" cy="91440"/>
            </a:xfrm>
            <a:prstGeom prst="rect">
              <a:avLst/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15800" y="4429973"/>
              <a:ext cx="2057400" cy="915507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ctr">
                <a:lnSpc>
                  <a:spcPct val="106000"/>
                </a:lnSpc>
              </a:pP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장비·SW간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연결·호환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워크플로</a:t>
              </a:r>
              <a: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실행·이식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지원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(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제조사가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달라도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동일한</a:t>
              </a:r>
              <a: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방식으로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연결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)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AEC5E42-8CB5-48DD-BF00-E6E194D83A34}"/>
              </a:ext>
            </a:extLst>
          </p:cNvPr>
          <p:cNvGrpSpPr/>
          <p:nvPr/>
        </p:nvGrpSpPr>
        <p:grpSpPr>
          <a:xfrm>
            <a:off x="7711293" y="5806023"/>
            <a:ext cx="2773076" cy="1417320"/>
            <a:chOff x="7724360" y="5613546"/>
            <a:chExt cx="2240280" cy="1417320"/>
          </a:xfrm>
        </p:grpSpPr>
        <p:sp>
          <p:nvSpPr>
            <p:cNvPr id="49" name="Rectangle 48"/>
            <p:cNvSpPr/>
            <p:nvPr/>
          </p:nvSpPr>
          <p:spPr>
            <a:xfrm>
              <a:off x="7895968" y="6322206"/>
              <a:ext cx="310896" cy="0"/>
            </a:xfrm>
            <a:prstGeom prst="rect">
              <a:avLst/>
            </a:prstGeom>
            <a:noFill/>
            <a:ln w="19050">
              <a:solidFill>
                <a:srgbClr val="2140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724360" y="5613546"/>
              <a:ext cx="2240280" cy="1417320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2140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724360" y="5613546"/>
              <a:ext cx="2240280" cy="310896"/>
            </a:xfrm>
            <a:prstGeom prst="roundRect">
              <a:avLst>
                <a:gd name="adj" fmla="val 14705"/>
              </a:avLst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endParaRPr sz="1150" b="1" dirty="0">
                <a:solidFill>
                  <a:srgbClr val="FFFFFF"/>
                </a:solidFill>
                <a:latin typeface="+mn-ea"/>
                <a:cs typeface="Pretendard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724360" y="5833002"/>
              <a:ext cx="2240280" cy="91440"/>
            </a:xfrm>
            <a:prstGeom prst="rect">
              <a:avLst/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15800" y="6099200"/>
              <a:ext cx="2057400" cy="664797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ctr"/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데이터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실험조건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장비로그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판정이력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등AI가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바로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학습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가능한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형식으로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축적</a:t>
              </a:r>
              <a:endParaRPr sz="1400" dirty="0">
                <a:solidFill>
                  <a:srgbClr val="434C5E"/>
                </a:solidFill>
                <a:latin typeface="+mn-ea"/>
                <a:cs typeface="Pretendard"/>
              </a:endParaRPr>
            </a:p>
          </p:txBody>
        </p:sp>
      </p:grpSp>
      <p:sp>
        <p:nvSpPr>
          <p:cNvPr id="54" name="Rounded Rectangle 53"/>
          <p:cNvSpPr/>
          <p:nvPr/>
        </p:nvSpPr>
        <p:spPr>
          <a:xfrm>
            <a:off x="971928" y="7409487"/>
            <a:ext cx="2697067" cy="761487"/>
          </a:xfrm>
          <a:prstGeom prst="roundRect">
            <a:avLst>
              <a:gd name="adj" fmla="val 9615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spcAft>
                <a:spcPts val="100"/>
              </a:spcAft>
            </a:pPr>
            <a:r>
              <a:rPr sz="1200" b="1" dirty="0" err="1">
                <a:solidFill>
                  <a:srgbClr val="FFFFFF"/>
                </a:solidFill>
                <a:latin typeface="+mn-ea"/>
                <a:cs typeface="Pretendard"/>
              </a:rPr>
              <a:t>오케스트레이션</a:t>
            </a:r>
            <a:r>
              <a:rPr sz="1200" b="1" dirty="0">
                <a:solidFill>
                  <a:srgbClr val="FFFFFF"/>
                </a:solidFill>
                <a:latin typeface="+mn-ea"/>
                <a:cs typeface="Pretendard"/>
              </a:rPr>
              <a:t> SW</a:t>
            </a:r>
          </a:p>
          <a:p>
            <a:pPr algn="ctr">
              <a:lnSpc>
                <a:spcPct val="102000"/>
              </a:lnSpc>
            </a:pP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전체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워크플로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실행·관리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/ </a:t>
            </a:r>
            <a:br>
              <a:rPr lang="en-US" sz="1200" dirty="0">
                <a:solidFill>
                  <a:srgbClr val="C7D4EC"/>
                </a:solidFill>
                <a:latin typeface="+mn-ea"/>
                <a:cs typeface="Pretendard"/>
              </a:rPr>
            </a:b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AI·로봇·장비·데이터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연결</a:t>
            </a:r>
            <a:endParaRPr sz="12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935457" y="7405450"/>
            <a:ext cx="2551097" cy="743148"/>
          </a:xfrm>
          <a:prstGeom prst="roundRect">
            <a:avLst>
              <a:gd name="adj" fmla="val 9615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spcAft>
                <a:spcPts val="100"/>
              </a:spcAft>
            </a:pPr>
            <a:r>
              <a:rPr sz="1200" b="1" dirty="0" err="1">
                <a:solidFill>
                  <a:srgbClr val="FFFFFF"/>
                </a:solidFill>
                <a:latin typeface="+mn-ea"/>
                <a:cs typeface="Pretendard"/>
              </a:rPr>
              <a:t>안전·신뢰·검증</a:t>
            </a:r>
            <a:endParaRPr sz="1200" b="1" dirty="0">
              <a:solidFill>
                <a:srgbClr val="FFFFFF"/>
              </a:solidFill>
              <a:latin typeface="+mn-ea"/>
              <a:cs typeface="Pretendard"/>
            </a:endParaRPr>
          </a:p>
          <a:p>
            <a:pPr algn="ctr">
              <a:lnSpc>
                <a:spcPct val="102000"/>
              </a:lnSpc>
            </a:pP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이상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탐지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,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안전규정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, </a:t>
            </a:r>
            <a:br>
              <a:rPr lang="en-US" sz="1200" dirty="0">
                <a:solidFill>
                  <a:srgbClr val="C7D4EC"/>
                </a:solidFill>
                <a:latin typeface="+mn-ea"/>
                <a:cs typeface="Pretendard"/>
              </a:rPr>
            </a:b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원데이터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및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이력추적</a:t>
            </a:r>
            <a:endParaRPr sz="12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8949" y="8671932"/>
            <a:ext cx="4154296" cy="66479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 dirty="0" err="1">
                <a:solidFill>
                  <a:srgbClr val="434C5E"/>
                </a:solidFill>
                <a:latin typeface="+mn-ea"/>
                <a:cs typeface="Pretendard"/>
              </a:rPr>
              <a:t>자동화</a:t>
            </a:r>
            <a:r>
              <a:rPr sz="1400" b="1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434C5E"/>
                </a:solidFill>
                <a:latin typeface="+mn-ea"/>
                <a:cs typeface="Pretendard"/>
              </a:rPr>
              <a:t>실험실</a:t>
            </a:r>
            <a:r>
              <a:rPr lang="ko-KR" altLang="en-US" sz="1400" b="1" dirty="0">
                <a:solidFill>
                  <a:srgbClr val="434C5E"/>
                </a:solidFill>
                <a:latin typeface="+mn-ea"/>
                <a:cs typeface="Pretendard"/>
              </a:rPr>
              <a:t>과의 차이</a:t>
            </a:r>
            <a:br>
              <a:rPr lang="en-US" altLang="ko-KR" sz="1400" dirty="0">
                <a:solidFill>
                  <a:srgbClr val="434C5E"/>
                </a:solidFill>
                <a:latin typeface="+mn-ea"/>
                <a:cs typeface="Pretendard"/>
              </a:rPr>
            </a:b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목표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충족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여부를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AI가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스스로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판정하고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br>
              <a:rPr lang="en-US" sz="1400" dirty="0">
                <a:solidFill>
                  <a:srgbClr val="434C5E"/>
                </a:solidFill>
                <a:latin typeface="+mn-ea"/>
                <a:cs typeface="Pretendard"/>
              </a:rPr>
            </a:b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그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판정으로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다음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실험조건을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사람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개입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없이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결정</a:t>
            </a:r>
            <a:endParaRPr sz="1400" dirty="0">
              <a:solidFill>
                <a:srgbClr val="434C5E"/>
              </a:solidFill>
              <a:latin typeface="+mn-ea"/>
              <a:cs typeface="Pretendard"/>
            </a:endParaRPr>
          </a:p>
        </p:txBody>
      </p:sp>
      <p:pic>
        <p:nvPicPr>
          <p:cNvPr id="59" name="그래픽 58" descr="사용자 단색으로 채워진">
            <a:extLst>
              <a:ext uri="{FF2B5EF4-FFF2-40B4-BE49-F238E27FC236}">
                <a16:creationId xmlns:a16="http://schemas.microsoft.com/office/drawing/2014/main" id="{E370BF87-8EAD-4F9A-B42F-8B0EC57F0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722" y="2580767"/>
            <a:ext cx="500298" cy="500298"/>
          </a:xfrm>
          <a:prstGeom prst="rect">
            <a:avLst/>
          </a:prstGeom>
        </p:spPr>
      </p:pic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5F46C48A-1F8A-43D2-A04C-FC327088E44B}"/>
              </a:ext>
            </a:extLst>
          </p:cNvPr>
          <p:cNvCxnSpPr>
            <a:cxnSpLocks/>
            <a:stCxn id="33" idx="1"/>
            <a:endCxn id="61" idx="1"/>
          </p:cNvCxnSpPr>
          <p:nvPr/>
        </p:nvCxnSpPr>
        <p:spPr>
          <a:xfrm rot="10800000" flipV="1">
            <a:off x="571722" y="6514683"/>
            <a:ext cx="109730" cy="2512914"/>
          </a:xfrm>
          <a:prstGeom prst="bentConnector3">
            <a:avLst>
              <a:gd name="adj1" fmla="val 308330"/>
            </a:avLst>
          </a:prstGeom>
          <a:ln w="38100"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58F8F5E-B84E-44B2-870C-2514B15D2FB0}"/>
              </a:ext>
            </a:extLst>
          </p:cNvPr>
          <p:cNvCxnSpPr>
            <a:cxnSpLocks/>
          </p:cNvCxnSpPr>
          <p:nvPr/>
        </p:nvCxnSpPr>
        <p:spPr>
          <a:xfrm>
            <a:off x="6937978" y="4457791"/>
            <a:ext cx="786382" cy="0"/>
          </a:xfrm>
          <a:prstGeom prst="line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00E1E8C-2742-4934-8408-370C9FA915D8}"/>
              </a:ext>
            </a:extLst>
          </p:cNvPr>
          <p:cNvCxnSpPr>
            <a:cxnSpLocks/>
          </p:cNvCxnSpPr>
          <p:nvPr/>
        </p:nvCxnSpPr>
        <p:spPr>
          <a:xfrm>
            <a:off x="6937978" y="6641683"/>
            <a:ext cx="773315" cy="0"/>
          </a:xfrm>
          <a:prstGeom prst="line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E3542B19-0BFF-4138-98A5-6ED3909C1E8C}"/>
              </a:ext>
            </a:extLst>
          </p:cNvPr>
          <p:cNvCxnSpPr>
            <a:cxnSpLocks/>
          </p:cNvCxnSpPr>
          <p:nvPr/>
        </p:nvCxnSpPr>
        <p:spPr>
          <a:xfrm>
            <a:off x="6937978" y="4559391"/>
            <a:ext cx="773315" cy="1993392"/>
          </a:xfrm>
          <a:prstGeom prst="bentConnector3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2D1DC00-115F-4359-A00C-5B240B765655}"/>
              </a:ext>
            </a:extLst>
          </p:cNvPr>
          <p:cNvSpPr txBox="1"/>
          <p:nvPr/>
        </p:nvSpPr>
        <p:spPr>
          <a:xfrm>
            <a:off x="5138403" y="3357943"/>
            <a:ext cx="1793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D3567"/>
                </a:solidFill>
                <a:latin typeface="+mn-ea"/>
                <a:cs typeface="Pretendard"/>
              </a:rPr>
              <a:t>자율실험 </a:t>
            </a:r>
            <a:r>
              <a:rPr lang="ko-KR" altLang="en-US" sz="1400" b="1" dirty="0" err="1">
                <a:solidFill>
                  <a:srgbClr val="1D3567"/>
                </a:solidFill>
                <a:latin typeface="+mn-ea"/>
                <a:cs typeface="Pretendard"/>
              </a:rPr>
              <a:t>폐루프</a:t>
            </a:r>
            <a:endParaRPr lang="ko-KR" altLang="en-US"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C8E545-2D5E-4A8C-98F1-70CDA122E908}"/>
              </a:ext>
            </a:extLst>
          </p:cNvPr>
          <p:cNvSpPr txBox="1"/>
          <p:nvPr/>
        </p:nvSpPr>
        <p:spPr>
          <a:xfrm>
            <a:off x="7832016" y="3823838"/>
            <a:ext cx="2546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표준 인터페이스</a:t>
            </a:r>
            <a:r>
              <a:rPr lang="en-US" altLang="ko-KR" sz="1400" b="1" dirty="0">
                <a:solidFill>
                  <a:srgbClr val="FFFFFF"/>
                </a:solidFill>
                <a:latin typeface="+mn-ea"/>
                <a:cs typeface="Pretendard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드라이버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F5215E-EF0C-4C26-9989-4563D1970745}"/>
              </a:ext>
            </a:extLst>
          </p:cNvPr>
          <p:cNvSpPr txBox="1"/>
          <p:nvPr/>
        </p:nvSpPr>
        <p:spPr>
          <a:xfrm>
            <a:off x="8102141" y="5822597"/>
            <a:ext cx="1991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+mn-ea"/>
                <a:cs typeface="Pretendard"/>
              </a:rPr>
              <a:t>AI-Ready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데이터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737D45-A954-44DB-B26D-17AD112B127A}"/>
              </a:ext>
            </a:extLst>
          </p:cNvPr>
          <p:cNvSpPr txBox="1"/>
          <p:nvPr/>
        </p:nvSpPr>
        <p:spPr>
          <a:xfrm>
            <a:off x="1005125" y="2447243"/>
            <a:ext cx="2209218" cy="772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연구자</a:t>
            </a:r>
          </a:p>
          <a:p>
            <a:pPr algn="ctr">
              <a:lnSpc>
                <a:spcPct val="106000"/>
              </a:lnSpc>
            </a:pP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연구목표</a:t>
            </a:r>
            <a:r>
              <a:rPr lang="en-US" altLang="ko-KR" sz="1400" dirty="0">
                <a:solidFill>
                  <a:srgbClr val="C7D4EC"/>
                </a:solidFill>
                <a:latin typeface="+mn-ea"/>
                <a:cs typeface="Pretendard"/>
              </a:rPr>
              <a:t>·</a:t>
            </a: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제약조건 설정</a:t>
            </a:r>
          </a:p>
          <a:p>
            <a:pPr algn="ctr">
              <a:lnSpc>
                <a:spcPct val="106000"/>
              </a:lnSpc>
            </a:pP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결과 해석</a:t>
            </a:r>
            <a:r>
              <a:rPr lang="en-US" altLang="ko-KR" sz="1400" dirty="0">
                <a:solidFill>
                  <a:srgbClr val="C7D4EC"/>
                </a:solidFill>
                <a:latin typeface="+mn-ea"/>
                <a:cs typeface="Pretendard"/>
              </a:rPr>
              <a:t>·</a:t>
            </a: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검토</a:t>
            </a:r>
          </a:p>
        </p:txBody>
      </p:sp>
    </p:spTree>
    <p:extLst>
      <p:ext uri="{BB962C8B-B14F-4D97-AF65-F5344CB8AC3E}">
        <p14:creationId xmlns:p14="http://schemas.microsoft.com/office/powerpoint/2010/main" val="418830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244</Words>
  <Application>Microsoft Office PowerPoint</Application>
  <PresentationFormat>사용자 지정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AIX</dc:creator>
  <cp:keywords/>
  <dc:description>generated using python-pptx</dc:description>
  <cp:lastModifiedBy>AIX</cp:lastModifiedBy>
  <cp:revision>69</cp:revision>
  <dcterms:created xsi:type="dcterms:W3CDTF">2013-01-27T09:14:16Z</dcterms:created>
  <dcterms:modified xsi:type="dcterms:W3CDTF">2026-08-19T02:38:15Z</dcterms:modified>
  <cp:category/>
</cp:coreProperties>
</file>